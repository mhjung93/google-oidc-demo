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57"/>
  </p:notesMasterIdLst>
  <p:handoutMasterIdLst>
    <p:handoutMasterId r:id="rId5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EAADFB1-7652-4F9B-B65F-50710FAA7B34}">
          <p14:sldIdLst>
            <p14:sldId id="2307"/>
            <p14:sldId id="3604"/>
            <p14:sldId id="3607"/>
            <p14:sldId id="3599"/>
            <p14:sldId id="3603"/>
          </p14:sldIdLst>
        </p14:section>
        <p14:section name="Security" id="{D8F635D6-CFF4-4609-9B0D-1703A08783B4}">
          <p14:sldIdLst>
            <p14:sldId id="3606"/>
            <p14:sldId id="3609"/>
            <p14:sldId id="3610"/>
          </p14:sldIdLst>
        </p14:section>
        <p14:section name="Privacy" id="{351BBEB5-A275-4250-8638-BD1545BCBCC1}">
          <p14:sldIdLst>
            <p14:sldId id="3611"/>
            <p14:sldId id="3613"/>
            <p14:sldId id="3614"/>
            <p14:sldId id="3608"/>
          </p14:sldIdLst>
        </p14:section>
        <p14:section name="Q&amp;A" id="{AF8981F6-8C5B-47AD-A55F-B07B38231427}">
          <p14:sldIdLst>
            <p14:sldId id="693"/>
            <p14:sldId id="3612"/>
            <p14:sldId id="3615"/>
            <p14:sldId id="3616"/>
          </p14:sldIdLst>
        </p14:section>
        <p14:section name="supplementary" id="{082B26CD-3869-4D6C-8D70-5FC328A604FB}">
          <p14:sldIdLst>
            <p14:sldId id="3597"/>
            <p14:sldId id="3601"/>
            <p14:sldId id="3600"/>
            <p14:sldId id="3595"/>
            <p14:sldId id="3584"/>
            <p14:sldId id="3585"/>
            <p14:sldId id="3587"/>
            <p14:sldId id="3588"/>
            <p14:sldId id="3590"/>
            <p14:sldId id="3591"/>
            <p14:sldId id="3592"/>
            <p14:sldId id="3594"/>
            <p14:sldId id="3589"/>
            <p14:sldId id="3576"/>
            <p14:sldId id="3602"/>
            <p14:sldId id="3565"/>
            <p14:sldId id="3498"/>
            <p14:sldId id="3548"/>
            <p14:sldId id="3549"/>
            <p14:sldId id="3550"/>
            <p14:sldId id="3544"/>
            <p14:sldId id="3512"/>
          </p14:sldIdLst>
        </p14:section>
        <p14:section name="prev" id="{36E91D21-0121-4EDA-BC85-A5D5DB894AAD}">
          <p14:sldIdLst>
            <p14:sldId id="3530"/>
            <p14:sldId id="3527"/>
            <p14:sldId id="3547"/>
            <p14:sldId id="3531"/>
            <p14:sldId id="3534"/>
            <p14:sldId id="3535"/>
            <p14:sldId id="3536"/>
            <p14:sldId id="3537"/>
            <p14:sldId id="3538"/>
            <p14:sldId id="3496"/>
            <p14:sldId id="3473"/>
            <p14:sldId id="3551"/>
            <p14:sldId id="3506"/>
            <p14:sldId id="3528"/>
            <p14:sldId id="3505"/>
            <p14:sldId id="3552"/>
            <p14:sldId id="3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298" userDrawn="1">
          <p15:clr>
            <a:srgbClr val="A4A3A4"/>
          </p15:clr>
        </p15:guide>
        <p15:guide id="2" pos="55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정 문현" initials="정문" lastIdx="2" clrIdx="0">
    <p:extLst>
      <p:ext uri="{19B8F6BF-5375-455C-9EA6-DF929625EA0E}">
        <p15:presenceInfo xmlns:p15="http://schemas.microsoft.com/office/powerpoint/2012/main" userId="c5a31bce6c4d4fa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D4ED"/>
    <a:srgbClr val="2F528F"/>
    <a:srgbClr val="FBE5D6"/>
    <a:srgbClr val="ED7D31"/>
    <a:srgbClr val="B4C7E7"/>
    <a:srgbClr val="E5E5E5"/>
    <a:srgbClr val="7030A0"/>
    <a:srgbClr val="C55A11"/>
    <a:srgbClr val="FFCCFF"/>
    <a:srgbClr val="EEEA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7" autoAdjust="0"/>
    <p:restoredTop sz="76564" autoAdjust="0"/>
  </p:normalViewPr>
  <p:slideViewPr>
    <p:cSldViewPr>
      <p:cViewPr>
        <p:scale>
          <a:sx n="66" d="100"/>
          <a:sy n="66" d="100"/>
        </p:scale>
        <p:origin x="90" y="690"/>
      </p:cViewPr>
      <p:guideLst>
        <p:guide orient="horz" pos="1298"/>
        <p:guide pos="5564"/>
      </p:guideLst>
    </p:cSldViewPr>
  </p:slideViewPr>
  <p:outlineViewPr>
    <p:cViewPr>
      <p:scale>
        <a:sx n="33" d="100"/>
        <a:sy n="33" d="100"/>
      </p:scale>
      <p:origin x="0" y="-15028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howGuides="1">
      <p:cViewPr varScale="1">
        <p:scale>
          <a:sx n="88" d="100"/>
          <a:sy n="88" d="100"/>
        </p:scale>
        <p:origin x="2232" y="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57" Type="http://schemas.openxmlformats.org/officeDocument/2006/relationships/notesMaster" Target="notesMasters/notesMaster1.xml"/><Relationship Id="rId58" Type="http://schemas.openxmlformats.org/officeDocument/2006/relationships/handoutMaster" Target="handoutMasters/handoutMaster1.xml"/><Relationship Id="rId59" Type="http://schemas.openxmlformats.org/officeDocument/2006/relationships/commentAuthors" Target="commentAuthors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18830" cy="495029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5" y="1"/>
            <a:ext cx="2918830" cy="495029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>
              <a:defRPr sz="1200"/>
            </a:lvl1pPr>
          </a:lstStyle>
          <a:p>
            <a:fld id="{92F0BB66-0388-4A63-AA93-B2E3A50E3697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287"/>
            <a:ext cx="2918830" cy="495027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5" y="9371287"/>
            <a:ext cx="2918830" cy="495027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r">
              <a:defRPr sz="1200"/>
            </a:lvl1pPr>
          </a:lstStyle>
          <a:p>
            <a:fld id="{CD6CEEF8-01BD-42E6-AEE2-CA48D42E83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773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0" cy="493316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3316"/>
          </a:xfrm>
          <a:prstGeom prst="rect">
            <a:avLst/>
          </a:prstGeom>
        </p:spPr>
        <p:txBody>
          <a:bodyPr vert="horz" lIns="90754" tIns="45377" rIns="90754" bIns="45377" rtlCol="0"/>
          <a:lstStyle>
            <a:lvl1pPr algn="r">
              <a:defRPr sz="1200"/>
            </a:lvl1pPr>
          </a:lstStyle>
          <a:p>
            <a:fld id="{78836130-6F6C-40C6-AEC0-26A91B324EF3}" type="datetimeFigureOut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4" tIns="45377" rIns="90754" bIns="4537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0754" tIns="45377" rIns="90754" bIns="4537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7"/>
            <a:ext cx="2918830" cy="493316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7"/>
            <a:ext cx="2918830" cy="493316"/>
          </a:xfrm>
          <a:prstGeom prst="rect">
            <a:avLst/>
          </a:prstGeom>
        </p:spPr>
        <p:txBody>
          <a:bodyPr vert="horz" lIns="90754" tIns="45377" rIns="90754" bIns="45377" rtlCol="0" anchor="b"/>
          <a:lstStyle>
            <a:lvl1pPr algn="r">
              <a:defRPr sz="1200"/>
            </a:lvl1pPr>
          </a:lstStyle>
          <a:p>
            <a:fld id="{559887F7-3714-4B43-BD58-3E0F022ACC2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1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latin typeface="Gill Sans MT" panose="020B0502020104020203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Gill Sans MT" panose="020B05020201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707A0E-4431-4062-B680-C2E18B7A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BE42-407A-4001-A0C2-11D5837D2FE3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D23DA20-478F-4242-ADFF-1EA11223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15ADAB-DF50-41BD-97A4-0E95B4C5F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19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59" y="116632"/>
            <a:ext cx="11521282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59" y="1442195"/>
            <a:ext cx="11521282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D14F-29B6-45E8-8F09-66A02A93BEED}" type="datetime1">
              <a:rPr lang="ko-KR" altLang="en-US" smtClean="0"/>
              <a:t>2026-07-31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Gill Sans MT" panose="020B0502020104020203" pitchFamily="34" charset="0"/>
              </a:defRPr>
            </a:lvl1pPr>
          </a:lstStyle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48ADF1E-CE30-4061-93EF-603CE3FF43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6534795"/>
            <a:ext cx="1296144" cy="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9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로고없음_제목_및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59" y="116632"/>
            <a:ext cx="11521282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59" y="1442195"/>
            <a:ext cx="11521282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D14F-29B6-45E8-8F09-66A02A93BEED}" type="datetime1">
              <a:rPr lang="ko-KR" altLang="en-US" smtClean="0"/>
              <a:t>2026-07-31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Gill Sans MT" panose="020B0502020104020203" pitchFamily="34" charset="0"/>
              </a:defRPr>
            </a:lvl1pPr>
          </a:lstStyle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2301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인용 필요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359" y="116632"/>
            <a:ext cx="11521282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359" y="1442195"/>
            <a:ext cx="11521282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A8D14F-29B6-45E8-8F09-66A02A93BEED}" type="datetime1">
              <a:rPr lang="ko-KR" altLang="en-US" smtClean="0"/>
              <a:t>2026-07-31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latin typeface="Gill Sans MT" panose="020B0502020104020203" pitchFamily="34" charset="0"/>
              </a:defRPr>
            </a:lvl1pPr>
          </a:lstStyle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EF98DA6D-825E-4CE7-B3F9-1DCD7B8363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-3175" y="6512768"/>
            <a:ext cx="11860213" cy="22860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defRPr>
            </a:lvl1pPr>
            <a:lvl2pPr>
              <a:defRPr sz="1200">
                <a:latin typeface="Gill Sans MT" panose="020B0502020104020203" pitchFamily="34" charset="0"/>
              </a:defRPr>
            </a:lvl2pPr>
            <a:lvl3pPr>
              <a:defRPr sz="1100">
                <a:latin typeface="Gill Sans MT" panose="020B0502020104020203" pitchFamily="34" charset="0"/>
              </a:defRPr>
            </a:lvl3pPr>
            <a:lvl4pPr>
              <a:defRPr sz="1050">
                <a:latin typeface="Gill Sans MT" panose="020B0502020104020203" pitchFamily="34" charset="0"/>
              </a:defRPr>
            </a:lvl4pPr>
            <a:lvl5pPr>
              <a:defRPr sz="1050">
                <a:latin typeface="Gill Sans MT" panose="020B0502020104020203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3A93F2E-79E9-4CAD-A66F-BDD8A2AF62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6534795"/>
            <a:ext cx="1296144" cy="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2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216C1-A4C7-4657-ADD1-B89812EE45A3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80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A6822-3CEC-485D-A009-BBDFFA54A112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BFDC-2E73-4FDA-89BF-267F4F72D5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D59325C-2409-4F27-96A9-15DE92040D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6534795"/>
            <a:ext cx="1296144" cy="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4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2322E-10D3-4C6C-9570-81AA8B4B4F29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ABFDC-2E73-4FDA-89BF-267F4F72D5E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BEA323-DEC6-4404-9444-C0311173B9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408" y="6534795"/>
            <a:ext cx="1296144" cy="18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844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268B-F3AD-D7A3-A66B-0F97F25E4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E6EA6-531B-4AE5-2F2A-225297E15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F528A-41D2-4C62-A68D-6A2550539437}" type="datetime1">
              <a:rPr lang="x-none" altLang="ko-KR" smtClean="0"/>
              <a:t>2026-07-31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077A0-9890-991D-F89D-B3F86F62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D3F9B3-C610-4DB6-C48E-21A445B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0625B-0B75-924F-914D-58A4257CED2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72760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362" y="116632"/>
            <a:ext cx="115212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361" y="1442195"/>
            <a:ext cx="115212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5BE42-407A-4001-A0C2-11D5837D2FE3}" type="datetime1">
              <a:rPr lang="ko-KR" altLang="en-US" smtClean="0"/>
              <a:t>2026-07-31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08901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</a:lstStyle>
          <a:p>
            <a:fld id="{A72ABFDC-2E73-4FDA-89BF-267F4F72D5E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71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46" r:id="rId3"/>
    <p:sldLayoutId id="2147483845" r:id="rId4"/>
    <p:sldLayoutId id="2147483836" r:id="rId5"/>
    <p:sldLayoutId id="2147483838" r:id="rId6"/>
    <p:sldLayoutId id="2147483840" r:id="rId7"/>
    <p:sldLayoutId id="2147483847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BAAR — 블록체인 기반 익명·폐기 가능 인증 프레임워크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r>
              <a:t>Ahmed, Ahmad, Zeshan, Akram (PLOS ONE 21(3): e0343696, 2026-03-31)</a:t>
            </a:r>
          </a:p>
          <a:p>
            <a:r>
              <a:t>논문 리뷰 세미나 · Moonhyeon Chung, POSTECH</a:t>
            </a:r>
          </a:p>
        </p:txBody>
      </p:sp>
      <p:pic>
        <p:nvPicPr>
          <p:cNvPr id="4" name="Picture 3" descr="pos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764" y="4951853"/>
            <a:ext cx="4248472" cy="61189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오늘의 순서와, 근거를 표시하는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순서</a:t>
            </a:r>
          </a:p>
          <a:p>
            <a:pPr lvl="1"/>
            <a:r>
              <a:rPr b="0"/>
              <a:t>① 문제 설정과 BAAR가 주장하는 공백 (3~5)</a:t>
            </a:r>
          </a:p>
          <a:p>
            <a:pPr lvl="1"/>
            <a:r>
              <a:rPr b="0"/>
              <a:t>② 시스템 모델과 구성요소 (6~8)</a:t>
            </a:r>
          </a:p>
          <a:p>
            <a:pPr lvl="1"/>
            <a:r>
              <a:rPr b="0"/>
              <a:t>③ 프로토콜 네 단계 (9~12)</a:t>
            </a:r>
          </a:p>
          <a:p>
            <a:pPr lvl="1"/>
            <a:r>
              <a:rPr b="0"/>
              <a:t>④ 이 논문의 핵심 선택: 무엇의 멤버십인가 (13~14)</a:t>
            </a:r>
          </a:p>
          <a:p>
            <a:pPr lvl="1"/>
            <a:r>
              <a:rPr b="0"/>
              <a:t>⑤ 보안 주장과 증명 구조 (15~16)</a:t>
            </a:r>
          </a:p>
          <a:p>
            <a:pPr lvl="1"/>
            <a:r>
              <a:rPr b="0"/>
              <a:t>⑥ 평가와 수치, 그리고 그 안의 모순 (17~20)</a:t>
            </a:r>
          </a:p>
          <a:p>
            <a:pPr lvl="1"/>
            <a:r>
              <a:rPr b="0"/>
              <a:t>⑦ 비판적 검토와 우리 설계와의 대조 (21~27)</a:t>
            </a:r>
          </a:p>
          <a:p>
            <a:pPr/>
            <a:r>
              <a:rPr b="1"/>
              <a:t>근거 표시 규칙 — 섞이면 논의가 흐려진다</a:t>
            </a:r>
          </a:p>
          <a:p>
            <a:pPr lvl="1"/>
            <a:r>
              <a:rPr b="0"/>
              <a:t>"원문": 논문 본문에 있는 내용 — documents/BAAR_PLOSONE_e0343696.pdf로 직접 대조했다</a:t>
            </a:r>
          </a:p>
          <a:p>
            <a:pPr lvl="1"/>
            <a:r>
              <a:rPr b="0"/>
              <a:t>"우리 실측": 이 저장소에서 측정한 값 — 파일명을 함께 적는다</a:t>
            </a:r>
          </a:p>
          <a:p>
            <a:pPr lvl="1"/>
            <a:r>
              <a:rPr b="0"/>
              <a:t>"발표자 분석": 논문에 없는 해석·비판. 반박 환영</a:t>
            </a:r>
          </a:p>
          <a:p>
            <a:pPr/>
            <a:r>
              <a:rPr b="1"/>
              <a:t>시간 배분 — 45분이면 요약을 줄인다</a:t>
            </a:r>
          </a:p>
          <a:p>
            <a:pPr lvl="1"/>
            <a:r>
              <a:rPr b="0"/>
              <a:t>9·16·17번은 앞뒤 장과 겹쳐 구두로 넘길 수 있다(약 6분 확보)</a:t>
            </a:r>
          </a:p>
          <a:p>
            <a:pPr lvl="1"/>
            <a:r>
              <a:rPr b="0"/>
              <a:t>13~14번(핵심 선택)까지를 25분 지점 통과 목표로, 21~27번(비판·대조)에 최소 25분을 남긴다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문제: 익명성과 폐기는 왜 같이 가기 어려운가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블록체인 인증에서 원하는 것 (원문의 문제의식)</a:t>
            </a:r>
          </a:p>
          <a:p>
            <a:pPr lvl="1"/>
            <a:r>
              <a:rPr b="0"/>
              <a:t>익명성 · unlinkability · 선택적 속성 공개 · 폐기</a:t>
            </a:r>
          </a:p>
          <a:p>
            <a:pPr/>
            <a:r>
              <a:rPr b="1"/>
              <a:t>그런데 이 넷은 서로 당긴다</a:t>
            </a:r>
          </a:p>
          <a:p>
            <a:pPr lvl="1"/>
            <a:r>
              <a:rPr b="0"/>
              <a:t>폐기하려면 "이 크레덴셜이 무엇인가"를 지목해야 하는데, 익명성은 그 지목을 막는다</a:t>
            </a:r>
          </a:p>
          <a:p>
            <a:pPr lvl="1"/>
            <a:r>
              <a:rPr b="0"/>
              <a:t>폐기 상태를 검증자가 조회하면, 그 조회 행위가 "누가 언제 인증 중인가"를 발급자에게 흘린다</a:t>
            </a:r>
          </a:p>
          <a:p>
            <a:pPr lvl="1"/>
            <a:r>
              <a:rPr b="0"/>
              <a:t>폐기된 식별자를 그대로 공개하면 그 사용자를 지목하게 된다(폐기 시 unlinkability 상실)</a:t>
            </a:r>
          </a:p>
          <a:p>
            <a:pPr/>
            <a:r>
              <a:rPr b="1"/>
              <a:t>발표자 분석 — 흔한 오해 하나</a:t>
            </a:r>
          </a:p>
          <a:p>
            <a:pPr lvl="1"/>
            <a:r>
              <a:rPr b="0"/>
              <a:t>"공개 폐기 목록은 그 자체로 식별 정보"는 성립하지 않는다 — W3C Bitstring Status List처럼</a:t>
            </a:r>
          </a:p>
          <a:p>
            <a:pPr lvl="1"/>
            <a:r>
              <a:rPr b="0"/>
              <a:t>폐기되지 않은 사용자는 목록에서 식별되지 않는다. 문제는 목록의 존재가 아니라 조회 타이밍과 폐기 대상의 노출이다</a:t>
            </a:r>
          </a:p>
          <a:p>
            <a:pPr/>
            <a:r>
              <a:rPr b="1"/>
              <a:t>BAAR의 답: 폐기 상태를 머클 root 하나로 압축해 온체인에 올린다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접근의 한계 — 논문이 지목하는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pairing 기반 익명 크레덴셜의 비용 (원문)</a:t>
            </a:r>
          </a:p>
          <a:p>
            <a:pPr lvl="1"/>
            <a:r>
              <a:rPr b="0"/>
              <a:t>기존 프라이버시 보존 스킴 다수가 pairing 기반이라 연산 부담이 크다</a:t>
            </a:r>
          </a:p>
          <a:p>
            <a:pPr lvl="1"/>
            <a:r>
              <a:rPr b="0"/>
              <a:t>배포 대상 체인이 secp256k1을 쓰므로 pairing 친화 곡선이 아니다</a:t>
            </a:r>
          </a:p>
          <a:p>
            <a:pPr lvl="1"/>
            <a:r>
              <a:rPr b="0"/>
              <a:t>즉 "이론적으로 좋은 스킴"이 배포 대상 위에서 그대로 돌지 않는다</a:t>
            </a:r>
          </a:p>
          <a:p>
            <a:pPr/>
            <a:r>
              <a:rPr b="1"/>
              <a:t>각주 — 사실 확인이 필요한 대목</a:t>
            </a:r>
          </a:p>
          <a:p>
            <a:pPr lvl="1"/>
            <a:r>
              <a:rPr b="0"/>
              <a:t>원문은 Bitcoin·Ethereum과 함께 Hyperledger Fabric을 secp256k1 계열로 묶는데,</a:t>
            </a:r>
          </a:p>
          <a:p>
            <a:pPr lvl="1"/>
            <a:r>
              <a:rPr b="0"/>
              <a:t>Fabric의 기본 MSP는 ECDSA P-256(prime256v1)이다. 동기 문장이라 청중이 짚을 수 있다</a:t>
            </a:r>
          </a:p>
          <a:p>
            <a:pPr/>
            <a:r>
              <a:rPr b="1"/>
              <a:t>발표자 분석 — 이 프레이밍의 함의</a:t>
            </a:r>
          </a:p>
          <a:p>
            <a:pPr lvl="1"/>
            <a:r>
              <a:rPr b="0"/>
              <a:t>논문의 설계 제약은 보안이 아니라 배포 가능성에서 온다</a:t>
            </a:r>
          </a:p>
          <a:p>
            <a:pPr lvl="1"/>
            <a:r>
              <a:rPr b="0"/>
              <a:t>그래서 SNARK가 아니라 Schnorr Σ-protocol을 고른다 — 24번에서 이 선택의 대가를 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BAAR가 주장하는 세 가지 공백 (원문)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572000"/>
                <a:gridCol w="5760720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요구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왜 어렵다고 말하는가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(i)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pairing 없이 secp256k1 위에서 동작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기존 익명 크레덴셜 다수가 pairing 전제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(ii)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다속성 선택적 공개 + 가벼운 영지식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SNARK는 무겁고, 단순 서명은 선택적 공개가 안 된다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(iii)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온체인 게시에 적합한 공개·대수시간 폐기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400"/>
                      </a:pPr>
                      <a:r>
                        <a:rPr sz="1400"/>
                        <a:t>폐기 목록을 통째로 올리면 가스가 감당되지 않는다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논문은 이 셋을 동시에 만족한 선행 연구가 없다고 주장한다.</a:t>
            </a:r>
          </a:p>
          <a:p>
            <a:pPr>
              <a:defRPr sz="1200"/>
            </a:pPr>
            <a:r>
              <a:rPr b="0" sz="1200"/>
              <a:t>발표자 분석: (iii)의 "공개(public)"가 핵심이다 — 누구나 검증 가능한 폐기 상태를 목표로 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모델 — 네 주체 (원문)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1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955279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주체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하는 일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블록체인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시스템 파라미터·공개키·현재 누산기 root를 게시하는 공개 원장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CIA (Credential Issuing Authority)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초기화, 키 생성, Pedersen 커밋먼트 기반 크레덴셜 발급, 폐기 반영해 root 갱신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검증자 (Verifier)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체인에서 최신 root를 읽어 Schnorr 서명·ZKP·멤버십을 검증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사용자 (User)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크레덴셜 요청, 속성 부분 공개 증명, 폐기 발생 시 witness 갱신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발표자 분석: 검증자가 오프체인 주체라는 점을 기억해 두자. 우리 시스템은 검증자가 스마트컨트랙트다 — 24번에서 이 차이가 결정적으로 작동한다.</a:t>
            </a:r>
          </a:p>
          <a:p>
            <a:pPr>
              <a:defRPr sz="1200"/>
            </a:pPr>
            <a:r>
              <a:rPr b="0" sz="1200"/>
              <a:t>그리고 사용자 역할에 "witness 갱신"이 적혀 있다. 그 비용이 평가에는 없다(21번).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구성요소 ①② Pedersen 커밋먼트와 Schnorr ZKPoK (원문)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Pedersen 벡터 커밋먼트 — 속성 벡터를 점 하나로</a:t>
            </a:r>
          </a:p>
          <a:p>
            <a:pPr lvl="1"/>
            <a:r>
              <a:rPr b="0"/>
              <a:t>C = H₀^r · ∏ᵢ Hᵢ^(aᵢ)   (H₀ 블라인딩 생성원, Hᵢ 속성별 독립 생성원, r 랜덤)</a:t>
            </a:r>
          </a:p>
          <a:p>
            <a:pPr lvl="1"/>
            <a:r>
              <a:rPr b="0"/>
              <a:t>perfectly hiding (정보이론적) · ECDLP 하 binding · 속성 수가 늘어도 커밋먼트는 점 하나</a:t>
            </a:r>
          </a:p>
          <a:p>
            <a:pPr/>
            <a:r>
              <a:rPr b="1"/>
              <a:t>Schnorr 서명과 지식 증명</a:t>
            </a:r>
          </a:p>
          <a:p>
            <a:pPr lvl="1"/>
            <a:r>
              <a:rPr b="0"/>
              <a:t>서명: k → R = g^k, c = H(R ‖ m), z = k + c·x. 검증: R′ = g^z·X^(−c), c = H(R′ ‖ m)</a:t>
            </a:r>
          </a:p>
          <a:p>
            <a:pPr lvl="1"/>
            <a:r>
              <a:rPr b="0"/>
              <a:t>PoK{ (a₁,…,aₙ, r) : C = H₀^r · ∏ᵢ Hᵢ^(aᵢ) }  (원문 식 (2)), Fiat–Shamir로 비대화형화</a:t>
            </a:r>
          </a:p>
          <a:p>
            <a:pPr lvl="1"/>
            <a:r>
              <a:rPr b="0"/>
              <a:t>선택적 공개: 밝힐 속성은 그대로 내고, 감출 속성은 지식만 증명한다</a:t>
            </a:r>
          </a:p>
          <a:p>
            <a:pPr/>
            <a:r>
              <a:rPr b="1"/>
              <a:t>발표자 분석 — 여기서 기억할 두 가지</a:t>
            </a:r>
          </a:p>
          <a:p>
            <a:pPr lvl="1"/>
            <a:r>
              <a:rPr b="0"/>
              <a:t>익명성의 힘은 perfect hiding + 매 세션 새 랜덤성에서 온다(계산 가정이 아니다)</a:t>
            </a:r>
          </a:p>
          <a:p>
            <a:pPr lvl="1"/>
            <a:r>
              <a:rPr b="1"/>
              <a:t>증명 비용은 생성원 개수, 즉 속성 수 n에 선형이다 — 20번의 sublinear 비판과 이어진다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구성요소 ③ 머클 동적 누산기 (원문)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집합을 root 하나로 압축한다</a:t>
            </a:r>
          </a:p>
          <a:p>
            <a:pPr lvl="1"/>
            <a:r>
              <a:rPr b="0"/>
              <a:t>크레덴셜 식별자 C를 리프로, 누산기 값 = 머클 root R</a:t>
            </a:r>
          </a:p>
          <a:p>
            <a:pPr lvl="1"/>
            <a:r>
              <a:rPr b="0"/>
              <a:t>멤버십 witness W = 인증 경로 → PathHash(C, W) = R 이면 멤버</a:t>
            </a:r>
          </a:p>
          <a:p>
            <a:pPr lvl="1"/>
            <a:r>
              <a:rPr b="0"/>
              <a:t>삽입·삭제는 영향받는 경로의 O(log n) 노드만 다시 계산한다</a:t>
            </a:r>
          </a:p>
          <a:p>
            <a:pPr/>
            <a:r>
              <a:rPr b="1"/>
              <a:t>온체인에 올라가는 것은 root뿐 (원문)</a:t>
            </a:r>
          </a:p>
          <a:p>
            <a:pPr lvl="1"/>
            <a:r>
              <a:rPr b="1"/>
              <a:t>개별 커밋먼트는 체인에 저장하지 않는다 — 가스가 낮은 이유이자, 22번 비판의 뿌리다</a:t>
            </a:r>
          </a:p>
          <a:p>
            <a:pPr/>
            <a:r>
              <a:rPr b="1"/>
              <a:t>발표자 분석</a:t>
            </a:r>
          </a:p>
          <a:p>
            <a:pPr lvl="1"/>
            <a:r>
              <a:rPr b="0"/>
              <a:t>여기까지는 우리 설계와 같은 그림이다(온체인 상태 32바이트).</a:t>
            </a:r>
          </a:p>
          <a:p>
            <a:pPr lvl="1"/>
            <a:r>
              <a:rPr b="0"/>
              <a:t>갈리는 지점은 딱 하나 — 트리에 무엇을 넣는가. 13~14번에서 본다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프로토콜 ① Setup과 Request (원문)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Setup</a:t>
            </a:r>
          </a:p>
          <a:p>
            <a:pPr lvl="1"/>
            <a:r>
              <a:rPr b="0"/>
              <a:t>secp256k1 파라미터, Pedersen용 독립 생성원 {H₀,…,Hₙ}, 빈 폐기 상태로 초기화</a:t>
            </a:r>
          </a:p>
          <a:p>
            <a:pPr/>
            <a:r>
              <a:rPr b="1"/>
              <a:t>Request — 사용자가 발급을 요청한다</a:t>
            </a:r>
          </a:p>
          <a:p>
            <a:pPr lvl="1"/>
            <a:r>
              <a:rPr b="0"/>
              <a:t>키쌍 (x, X=g^x) 샘플링, 속성 벡터 a 준비</a:t>
            </a:r>
          </a:p>
          <a:p>
            <a:pPr lvl="1"/>
            <a:r>
              <a:rPr b="0"/>
              <a:t>임시 키쌍 (x′, X′) 생성 — 세션 간 연결을 끊는 장치</a:t>
            </a:r>
          </a:p>
          <a:p>
            <a:pPr lvl="1"/>
            <a:r>
              <a:rPr b="0"/>
              <a:t>커밋먼트 C 계산, 지식 증명 PoK_C 생성 → CIA에 전송</a:t>
            </a:r>
          </a:p>
          <a:p>
            <a:pPr/>
            <a:r>
              <a:rPr b="1"/>
              <a:t>발표자 분석: 사용자가 커밋먼트를 만들어 온다 — CIA는 속성 원문을 보지 않아도 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프로토콜 ② Generation — 여기서 트리에 들어간다 (원문)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CIA가 하는 일</a:t>
            </a:r>
          </a:p>
          <a:p>
            <a:pPr lvl="1"/>
            <a:r>
              <a:rPr b="0"/>
              <a:t>PoK_C와 X′ 아래 서명을 검증한다</a:t>
            </a:r>
          </a:p>
          <a:p>
            <a:pPr lvl="1"/>
            <a:r>
              <a:rPr b="0"/>
              <a:t>커밋먼트 C를 누산기에 삽입한다:  R ← UpdateAccumulator(R, C)</a:t>
            </a:r>
          </a:p>
          <a:p>
            <a:pPr lvl="1"/>
            <a:r>
              <a:rPr b="0"/>
              <a:t>갱신된 root R′을 온체인에 게시하고, 사용자에게 멤버십 witness W를 돌려준다</a:t>
            </a:r>
          </a:p>
          <a:p>
            <a:pPr/>
            <a:r>
              <a:rPr b="1"/>
              <a:t>이 시점의 상태</a:t>
            </a:r>
          </a:p>
          <a:p>
            <a:pPr lvl="1"/>
            <a:r>
              <a:rPr b="0"/>
              <a:t>트리 = 지금까지 발급된 유효한 크레덴셜의 집합. 사용자는 (C, r, a, W)를 든다</a:t>
            </a:r>
          </a:p>
          <a:p>
            <a:pPr/>
            <a:r>
              <a:rPr b="1"/>
              <a:t>발표자 분석 — 비용의 씨앗</a:t>
            </a:r>
          </a:p>
          <a:p>
            <a:pPr lvl="1"/>
            <a:r>
              <a:rPr b="0"/>
              <a:t>발급 한 건마다 root가 바뀐다 → 이미 발급된 모든 사용자의 witness가 한 원소씩 낡는다</a:t>
            </a:r>
          </a:p>
          <a:p>
            <a:pPr lvl="1"/>
            <a:r>
              <a:rPr b="0"/>
              <a:t>폐기가 드물어도 발급이 잦으면 갱신이 상시로 일어난다 — 21번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프로토콜 ③ 인증 — 검증자가 보는 세 가지 (원문)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5303520"/>
                <a:gridCol w="5212080"/>
              </a:tblGrid>
              <a:tr h="59436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검사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무엇을 보장하는가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Verify(X′, σ) — 임시 공개키 아래 서명 검증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이 트랜스크립트를 만든 주체가 비밀키를 안다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Verify(PoK_D) — 선택적 공개 ZKPoK 검증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감춘 속성을 알고 있고, 밝힌 속성이 커밋먼트와 맞다</a:t>
                      </a:r>
                    </a:p>
                  </a:txBody>
                  <a:tcPr anchor="ctr"/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VerifyMembership(R, C, W_C) = 1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이 크레덴셜이 현재 유효 집합에 있다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세 검사가 모두 통과해야 인증이 성립한다. σ = Sign(x′, (PoK_D, W))로 증명과 witness를 묶어 보낸다.</a:t>
            </a:r>
          </a:p>
          <a:p>
            <a:pPr>
              <a:defRPr sz="1200"/>
            </a:pPr>
            <a:r>
              <a:rPr b="0" sz="1200"/>
              <a:t>발표자 분석: 3번이 폐기를 담당한다 — 폐기 확인이 "현재 root에 대한 멤버십"으로 표현된다.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프로토콜 ④ 폐기 — 리프를 뺀다 (원문)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동작</a:t>
            </a:r>
          </a:p>
          <a:p>
            <a:pPr lvl="1"/>
            <a:r>
              <a:rPr b="0"/>
              <a:t>CIA가 크레덴셜 C를 누산기에서 제거하고 새 root R″을 계산해 게시한다</a:t>
            </a:r>
          </a:p>
          <a:p>
            <a:pPr lvl="1"/>
            <a:r>
              <a:rPr b="0"/>
              <a:t>이후 C로 만든 증명은 실패한다 — PathHash(C, W_old) ≠ R″</a:t>
            </a:r>
          </a:p>
          <a:p>
            <a:pPr/>
            <a:r>
              <a:rPr b="1"/>
              <a:t>원문은 폐기를 세 연산으로 나눈다 — 우리 계정 층과 대응된다</a:t>
            </a:r>
          </a:p>
          <a:p>
            <a:pPr lvl="1"/>
            <a:r>
              <a:rPr b="0"/>
              <a:t>Deactivate(식별자를 RCL에 추가) · Revoke(RCL 갱신) · Recover(재발급). 우리의 disabled / 크레덴셜 폐기 / unpin과 같은 삼분이다</a:t>
            </a:r>
          </a:p>
          <a:p>
            <a:pPr lvl="1"/>
            <a:r>
              <a:rPr b="0"/>
              <a:t>Table 3 실측 가스: Revocation 31,238 · Deactivation 50,753 · Recovery 28,810 · Verify 28,083</a:t>
            </a:r>
          </a:p>
          <a:p>
            <a:pPr/>
            <a:r>
              <a:rPr b="1"/>
              <a:t>복잡도와 지연 (원문)</a:t>
            </a:r>
          </a:p>
          <a:p>
            <a:pPr lvl="1"/>
            <a:r>
              <a:rPr b="0"/>
              <a:t>Table 4: Revocation = O(d)H (d = 트리 깊이)</a:t>
            </a:r>
          </a:p>
          <a:p>
            <a:pPr lvl="1"/>
            <a:r>
              <a:rPr b="0"/>
              <a:t>시간은 세 값이 따로 나온다(Table 3 0.0182 s, Fig 3 ≈180 ms, Fig 6 200→310 ms) — 20번에서 따진다</a:t>
            </a:r>
          </a:p>
          <a:p>
            <a:pPr/>
            <a:r>
              <a:rPr b="1"/>
              <a:t>보안 근거 (원문 Lemma 5)</a:t>
            </a:r>
          </a:p>
          <a:p>
            <a:pPr lvl="1"/>
            <a:r>
              <a:rPr b="0"/>
              <a:t>폐기된 크레덴셜에 대해 유효한 witness는 존재하지 않는다 — 만들려면 해시 충돌이 필요하다</a:t>
            </a:r>
          </a:p>
          <a:p>
            <a:pPr/>
            <a:r>
              <a:rPr b="1"/>
              <a:t>발표자 분석: 제거 즉시 효력이 생긴다. 유예 창이 없다 — 이 점은 우리보다 낫다(26번)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핵심: BAAR는 '유효 집합 멤버십'이다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931920"/>
              </a:tblGrid>
              <a:tr h="512064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BAAR (원문)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폐기 집합 방식 (우리 구현)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트리에 담기는 것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발급된 유효 크레덴셜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폐기된 세션·계정 리프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발급 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커밋먼트를 삽입 → root 변경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아무 일도 없음 (트리 불변)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폐기 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리프 제거 → root 변경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리프 추가 → root 변경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사용자가 증명하는 것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멤버십 PathHash(C,W) = 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비멤버십 low &lt; target &lt; next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원문 Protocol 3: "Leaves form a Merkle tree with a root Acc, representing all valid credentials. To revoke, the CIA removes x and publishes Acc′ = MerkleRoot(X ∖ {x})", 인증은 MerkleVerify(Acc′, x, π) = 1 — 유효 집합 멤버십이다.</a:t>
            </a:r>
          </a:p>
          <a:p>
            <a:pPr>
              <a:defRPr sz="1200"/>
            </a:pPr>
            <a:r>
              <a:rPr b="0" sz="1200"/>
              <a:t>그런데 같은 논문의 알고리즘 명세는 다른 자료구조를 쓴다: RCL = "on-chain Revoked Credential List"(초기값 ∅), Deactivate/Revoke는 "adding its identifier to the revocation list". 이름도 방향도 반대인 둘이 공존한다.</a:t>
            </a:r>
          </a:p>
          <a:p>
            <a:pPr>
              <a:defRPr sz="1200"/>
            </a:pPr>
            <a:r>
              <a:rPr b="0" sz="1200"/>
              <a:t>발표자 판단: 인증식이 Acc를 쓰므로 실제 프로토콜은 멤버십이다. RCL은 표기만 남고 프로토콜·증명에 쓰이지 않는다 — 우리 내부 문서(§3.1 표·§3.3 트리거)가 이 RCL 쪽 서술을 받아 적어 반대로 정리돼 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무엇을 트리에 넣는가 — 방향이 반대다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120640" cy="457200"/>
          </a:xfrm>
          <a:prstGeom prst="round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BAAR: 유효 크레덴셜 집합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5120640" cy="1371600"/>
          </a:xfrm>
          <a:prstGeom prst="roundRect">
            <a:avLst/>
          </a:prstGeom>
          <a:solidFill>
            <a:srgbClr val="E8ECF2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발급: 커밋먼트 C를 삽입 → root 변경</a:t>
            </a:r>
          </a:p>
          <a:p>
            <a:pPr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폐기: 리프 제거 → root 변경</a:t>
            </a:r>
          </a:p>
          <a:p>
            <a:pPr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인증: VerifyMembership(R, C, W) = 1</a:t>
            </a:r>
          </a:p>
          <a:p>
            <a:pPr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→ 트리에 '있어야' 통과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120640" cy="457200"/>
          </a:xfrm>
          <a:prstGeom prst="roundRect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우리: 폐기 집합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5120640" cy="1371600"/>
          </a:xfrm>
          <a:prstGeom prst="roundRect">
            <a:avLst/>
          </a:prstGeom>
          <a:solidFill>
            <a:srgbClr val="E8ECF2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발급: 아무 일도 없음 (트리 불변)</a:t>
            </a:r>
          </a:p>
          <a:p>
            <a:pPr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폐기: 리프 추가 → root 변경</a:t>
            </a:r>
          </a:p>
          <a:p>
            <a:pPr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인증: low &lt; target &lt; next (비멤버십)</a:t>
            </a:r>
          </a:p>
          <a:p>
            <a:pPr>
              <a:defRPr sz="1200" b="0">
                <a:solidFill>
                  <a:srgbClr val="44546A"/>
                </a:solidFill>
              </a:defRPr>
            </a:pPr>
            <a:r>
              <a:rPr sz="1200" b="0">
                <a:solidFill>
                  <a:srgbClr val="44546A"/>
                </a:solidFill>
              </a:rPr>
              <a:t>→ 트리에 '없어야' 통과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1" sz="1200"/>
              <a:t>대가가 비대칭이다. 멤버십은 회로가 단순하다 — 정렬 연결 리스트도, low 리프도, 252비트 정규화와 범위 비교도 필요 없다.</a:t>
            </a:r>
          </a:p>
          <a:p>
            <a:pPr>
              <a:defRPr sz="1200"/>
            </a:pPr>
            <a:r>
              <a:rPr b="0" sz="1200"/>
              <a:t>우리 실측: 비멤버십 검증 1개가 6,648 constraints(단독 컴파일). pi_pk_i는 세션·계정 두 번 쓰므로 13,296 — 전체 19,251의 69%다.</a:t>
            </a:r>
          </a:p>
          <a:p>
            <a:pPr>
              <a:defRPr sz="1200"/>
            </a:pPr>
            <a:r>
              <a:rPr b="0" sz="1200"/>
              <a:t>대신 root가 바뀌는 빈도가 다르다: BAAR는 발급+폐기, 우리는 폐기만. 23번에서 이 손익분기를 본다.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보안 주장과 그 근거 (원문)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/>
                <a:gridCol w="4297680"/>
              </a:tblGrid>
              <a:tr h="470262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주장하는 속성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무엇에 기대는가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Unforgeability — 정당한 보유자만 유효 트랜스크립트를 만든다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Schnorr EUF-CMA (A2), ECDLP (A1)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Credential soundness — 발급받지 않고는 인증할 수 없다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머클 누산기 건전성 (A4), 해시 충돌 저항 (A5)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Attribute privacy — 감춘 속성은 보호된다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Pedersen perfect hiding, ZKPoK 영지식성 (A3)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Anonymity / Unlinkability — 세션 간 연결 불가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Pedersen perfect hiding + 매 세션 새 Schnorr 랜덤성</a:t>
                      </a:r>
                    </a:p>
                  </a:txBody>
                  <a:tcPr anchor="ctr"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Revocation soundness — 폐기된 크레덴셜은 인증 불가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머클 경로 위조 불가 (A4·A5)</a:t>
                      </a:r>
                    </a:p>
                  </a:txBody>
                  <a:tcPr anchor="ctr"/>
                </a:tc>
              </a:tr>
              <a:tr h="470268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Authority-forgery resistance — 악의적 CIA도 몰래 위조 못 한다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Schnorr 위조 불가 + 해시 충돌 저항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가정: A1 ECDLP · A2 Schnorr EUF-CMA · A3 Fiat–Shamir ZKPoK(ROM) · A4 누산기 건전성 · A5 해시(ROM·충돌 저항).</a:t>
            </a:r>
          </a:p>
          <a:p>
            <a:pPr>
              <a:defRPr sz="1200"/>
            </a:pPr>
            <a:r>
              <a:rPr b="0" sz="1200"/>
              <a:t>발표자 분석: 익명성만 정보이론적 요소(perfect hiding)에 기대고 나머지는 계산 가정이다. 그리고 CIA는 발급 자체를 통제하므로 "위조"는 막아도 "부당 발급"은 막지 못한다 — 우리 IdP도 같다.</a:t>
            </a:r>
          </a:p>
          <a:p>
            <a:pPr>
              <a:defRPr sz="1200"/>
            </a:pPr>
            <a:r>
              <a:rPr b="0" sz="1200"/>
              <a:t>더 큰 문제: Lemma 4의 게임은 트랜스크립트 구별 불가를 다루지만, 프로토콜은 커밋먼트 C와 멤버십 witness W를 검증자에게 평문으로 넘긴다(11번). C는 크레덴셜당 고정이고 W는 리프 인덱스를 드러낸다 — 검증자 하나만으로 세션 연결이 자명하고, 두 RP가 담합하면 크로스 서비스 연결까지 된다. 임시키 X′는 공개키만 가릴 뿐이다.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증명 구조 — Lemma 1~7 (원문)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게임 기반 논증</a:t>
            </a:r>
          </a:p>
          <a:p>
            <a:pPr lvl="1"/>
            <a:r>
              <a:rPr b="0"/>
              <a:t>Unforgeability: 미발급 크레덴셜의 트랜스크립트 출력 → Schnorr EUF-CMA로 환원</a:t>
            </a:r>
          </a:p>
          <a:p>
            <a:pPr lvl="1"/>
            <a:r>
              <a:rPr b="0"/>
              <a:t>Credential soundness: 누산기에 없는 원소의 witness 생성 → 해시 충돌 필요</a:t>
            </a:r>
          </a:p>
          <a:p>
            <a:pPr lvl="1"/>
            <a:r>
              <a:rPr b="0"/>
              <a:t>Unlinkability: 두 사용자 중 하나의 트랜스크립트를 구별 → advantage negligible</a:t>
            </a:r>
          </a:p>
          <a:p>
            <a:pPr lvl="1"/>
            <a:r>
              <a:rPr b="0"/>
              <a:t>Revocation soundness: root 갱신 후 폐기된 크레덴셜로 유효 트랜스크립트 생성 → 경로 위조 필요</a:t>
            </a:r>
          </a:p>
          <a:p>
            <a:pPr/>
            <a:r>
              <a:rPr b="1"/>
              <a:t>Lemma 배치</a:t>
            </a:r>
          </a:p>
          <a:p>
            <a:pPr lvl="1"/>
            <a:r>
              <a:rPr b="0"/>
              <a:t>1 위조불가 · 2 크레덴셜 건전성 · 3 속성 프라이버시 · 4 익명성 · 5 폐기 건전성 · 6 권한 위조 저항 · 7 선택적 공개</a:t>
            </a:r>
          </a:p>
          <a:p>
            <a:pPr/>
            <a:r>
              <a:rPr b="1"/>
              <a:t>발표자 분석: 증명은 랜덤 오라클 모델에 의존한다(표준 모델 아님)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평가 셋업 (원문)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구현</a:t>
            </a:r>
          </a:p>
          <a:p>
            <a:pPr lvl="1"/>
            <a:r>
              <a:rPr b="0"/>
              <a:t>Charm-Crypto (secp256k1), Ethereum + Solidity v0.8.25, 머클 해시 SHA-256</a:t>
            </a:r>
          </a:p>
          <a:p>
            <a:pPr/>
            <a:r>
              <a:rPr b="1"/>
              <a:t>측정 환경</a:t>
            </a:r>
          </a:p>
          <a:p>
            <a:pPr lvl="1"/>
            <a:r>
              <a:rPr b="0"/>
              <a:t>VMware Ubuntu 22.04.2, 8GB RAM, Intel Core i5-8350U (1.70–1.90 GHz), 각 항목 40회 반복</a:t>
            </a:r>
          </a:p>
          <a:p>
            <a:pPr/>
            <a:r>
              <a:rPr b="1"/>
              <a:t>온체인/오프체인 분담 — 뒤의 수치를 읽는 열쇠</a:t>
            </a:r>
          </a:p>
          <a:p>
            <a:pPr lvl="1"/>
            <a:r>
              <a:rPr b="0"/>
              <a:t>Schnorr 증명은 오프체인에서 검증한다. 이더리움 트랜잭션 인증은 ECDSA</a:t>
            </a:r>
          </a:p>
          <a:p>
            <a:pPr lvl="1"/>
            <a:r>
              <a:rPr b="1"/>
              <a:t>따라서 가스는 증명 검증 비용이 아니라 상태 게시·조회 비용에 가깝다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① 논문의 온체인 실측 (원문 Table 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931920"/>
              </a:tblGrid>
              <a:tr h="444137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연산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Gas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Transaction time (s)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Setup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N/A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0.0001</a:t>
                      </a:r>
                    </a:p>
                  </a:txBody>
                  <a:tcPr anchor="ctr"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Verify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28,083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0.0549</a:t>
                      </a:r>
                    </a:p>
                  </a:txBody>
                  <a:tcPr anchor="ctr"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28,083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0.0669</a:t>
                      </a:r>
                    </a:p>
                  </a:txBody>
                  <a:tcPr anchor="ctr"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Deactivation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50,753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0.0883</a:t>
                      </a:r>
                    </a:p>
                  </a:txBody>
                  <a:tcPr anchor="ctr"/>
                </a:tc>
              </a:tr>
              <a:tr h="444137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Recovery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28,810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0.1109</a:t>
                      </a:r>
                    </a:p>
                  </a:txBody>
                  <a:tcPr anchor="ctr"/>
                </a:tc>
              </a:tr>
              <a:tr h="444138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Revocation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31,238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0.0182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이것이 논문 자신의 측정표다. 뒤의 비교 그림(Fig 3·4)과 값이 어긋나는 대목이 있어 20번에서 따진다.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② 비교 그림이 말하는 것 (원문 Fig 3·4·5·6·8)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시간 (Fig 3, 비교군 [36]·[37])</a:t>
            </a:r>
          </a:p>
          <a:p>
            <a:pPr lvl="1"/>
            <a:r>
              <a:rPr b="0"/>
              <a:t>Setup 120 / 190 / 160 ms · KeyGen 150 / 23 / 210 ms · Revocation 180 / 280 / 250 ms · Verification 200 / 350 / 320s</a:t>
            </a:r>
          </a:p>
          <a:p>
            <a:pPr/>
            <a:r>
              <a:rPr b="1"/>
              <a:t>가스 (Fig 4, 비교군 [37])</a:t>
            </a:r>
          </a:p>
          <a:p>
            <a:pPr lvl="1"/>
            <a:r>
              <a:rPr b="0"/>
              <a:t>Create ≈110K vs ≈135K · Verify ≈60K vs ≈100K · Revocation ≈30K vs ≈270K. "가스 50~90% 절감" 주장</a:t>
            </a:r>
          </a:p>
          <a:p>
            <a:pPr/>
            <a:r>
              <a:rPr b="1"/>
              <a:t>폐기 확장성 (Fig 5·6, 비교군 [14]) — 논문은 "two mutually valid dimensions"라 부른다</a:t>
            </a:r>
          </a:p>
          <a:p>
            <a:pPr lvl="1"/>
            <a:r>
              <a:rPr b="0"/>
              <a:t>Fig 5 누적: [14]는 5,000건에서 약 5초로 선형, BAAR는 "remains constant nonetheless of the number"</a:t>
            </a:r>
          </a:p>
          <a:p>
            <a:pPr lvl="1"/>
            <a:r>
              <a:rPr b="0"/>
              <a:t>Fig 6 건당: [14]는 800–950 ms에서 안정화, BAAR는 200 ms → 310 ms(5,000건)</a:t>
            </a:r>
          </a:p>
          <a:p>
            <a:pPr/>
            <a:r>
              <a:rPr b="1"/>
              <a:t>속성 확장성 (Fig 7·8, 비교군 [15])</a:t>
            </a:r>
          </a:p>
          <a:p>
            <a:pPr lvl="1"/>
            <a:r>
              <a:rPr b="0"/>
              <a:t>Fig 7 validation: BAAR 0.018 s vs [15] 0.028 s. Fig 8: 속성 8~1024에서 [15]는 15초 → 33초, BAAR는 "sublinear and stable"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성능 ③ 그 수치들이 서로 맞지 않는다 (발표자 분석)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① 같은 연산에 값이 둘씩 있다</a:t>
            </a:r>
          </a:p>
          <a:p>
            <a:pPr lvl="1"/>
            <a:r>
              <a:rPr b="0"/>
              <a:t>Verify 가스: Table 3은 28,083인데 Fig 4는 ≈60K — 2배 차이다</a:t>
            </a:r>
          </a:p>
          <a:p>
            <a:pPr lvl="1"/>
            <a:r>
              <a:rPr b="0"/>
              <a:t>Validation 시간: Table 3은 0.0669 s인데 Fig 7은 0.018 s</a:t>
            </a:r>
          </a:p>
          <a:p>
            <a:pPr lvl="1"/>
            <a:r>
              <a:rPr b="0"/>
              <a:t>Revocation 시간: Table 3 0.0182 s · Fig 3 ≈180 ms · Fig 6 200~310 ms — 셋 다 다르고 정의가 없다</a:t>
            </a:r>
          </a:p>
          <a:p>
            <a:pPr/>
            <a:r>
              <a:rPr b="1"/>
              <a:t>② Fig 5와 Fig 6이 동시에 참일 수 없다</a:t>
            </a:r>
          </a:p>
          <a:p>
            <a:pPr lvl="1"/>
            <a:r>
              <a:rPr b="0"/>
              <a:t>건당 지연이 200 → 310 ms로 오르는데 누적이 "일정"할 수는 없다. 누적은 건당의 합이다</a:t>
            </a:r>
          </a:p>
          <a:p>
            <a:pPr/>
            <a:r>
              <a:rPr b="1"/>
              <a:t>③ 우월성 서술이 자기 수치와 어긋난다</a:t>
            </a:r>
          </a:p>
          <a:p>
            <a:pPr lvl="1"/>
            <a:r>
              <a:rPr b="0"/>
              <a:t>KeyGen에서 [36]은 23 ms인데 BAAR는 150 ms다. 논문은 그런데도 "BAAR also exhibits superior efficiency"라고 적는다(6.5배 느리다)</a:t>
            </a:r>
          </a:p>
          <a:p>
            <a:pPr lvl="1"/>
            <a:r>
              <a:rPr b="0"/>
              <a:t>Verification 비교의 "320s"는 단위 오류로 보인다(320 ms). Fig 7 서술의 "36 percent higher"도 실제로는 낮은 값이다</a:t>
            </a:r>
          </a:p>
          <a:p>
            <a:pPr/>
            <a:r>
              <a:rPr b="1"/>
              <a:t>④ sublinear 주장이 자기 복잡도 표와 충돌한다</a:t>
            </a:r>
          </a:p>
          <a:p>
            <a:pPr lvl="1"/>
            <a:r>
              <a:rPr b="0"/>
              <a:t>Table 4: Authentication = ((m+3)SM + 2PA + (d+2)H + S) — 속성 수 m에 선형이다(SM = scalar multiplication)</a:t>
            </a:r>
          </a:p>
          <a:p>
            <a:pPr lvl="1"/>
            <a:r>
              <a:rPr b="0"/>
              <a:t>그리고 [15]의 15→33초는 논문 스스로 "inherent SNARK generation"에 귀속한다 — 증명 생성 시간을 BAAR의 검증 시간과 나란히 놓은 것이다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리프 하나가 바뀌면, 모든 사용자의 witness가 한 원소씩 낡는다</a:t>
            </a:r>
          </a:p>
        </p:txBody>
      </p:sp>
      <p:cxnSp>
        <p:nvCxnSpPr>
          <p:cNvPr id="3" name="Connector 2"/>
          <p:cNvCxnSpPr/>
          <p:nvPr/>
        </p:nvCxnSpPr>
        <p:spPr>
          <a:xfrm flipH="1">
            <a:off x="3291840" y="1874520"/>
            <a:ext cx="2651760" cy="45720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943600" y="1874520"/>
            <a:ext cx="2651760" cy="457200"/>
          </a:xfrm>
          <a:prstGeom prst="line">
            <a:avLst/>
          </a:prstGeom>
          <a:ln w="1270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2103120" y="2743200"/>
            <a:ext cx="1188720" cy="457200"/>
          </a:xfrm>
          <a:prstGeom prst="line">
            <a:avLst/>
          </a:prstGeom>
          <a:ln w="317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291840" y="2743200"/>
            <a:ext cx="1188720" cy="457200"/>
          </a:xfrm>
          <a:prstGeom prst="line">
            <a:avLst/>
          </a:prstGeom>
          <a:ln w="1270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406640" y="2743200"/>
            <a:ext cx="1188720" cy="457200"/>
          </a:xfrm>
          <a:prstGeom prst="line">
            <a:avLst/>
          </a:prstGeom>
          <a:ln w="1270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595360" y="2743200"/>
            <a:ext cx="1188720" cy="457200"/>
          </a:xfrm>
          <a:prstGeom prst="line">
            <a:avLst/>
          </a:prstGeom>
          <a:ln w="12700">
            <a:solidFill>
              <a:srgbClr val="4454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303520" y="1463040"/>
            <a:ext cx="1280160" cy="411480"/>
          </a:xfrm>
          <a:prstGeom prst="roundRect">
            <a:avLst/>
          </a:prstGeom>
          <a:solidFill>
            <a:srgbClr val="C0392B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root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331720"/>
            <a:ext cx="1280160" cy="411480"/>
          </a:xfrm>
          <a:prstGeom prst="roundRect">
            <a:avLst/>
          </a:prstGeom>
          <a:solidFill>
            <a:srgbClr val="C0392B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rPr sz="1100" b="0">
                <a:solidFill>
                  <a:srgbClr val="FFFFFF"/>
                </a:solidFill>
              </a:rPr>
              <a:t>H(A,B)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331720"/>
            <a:ext cx="1280160" cy="411480"/>
          </a:xfrm>
          <a:prstGeom prst="roundRect">
            <a:avLst/>
          </a:prstGeom>
          <a:solidFill>
            <a:srgbClr val="E8ECF2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44546A"/>
                </a:solidFill>
              </a:defRPr>
            </a:pPr>
            <a:r>
              <a:rPr sz="1100" b="0">
                <a:solidFill>
                  <a:srgbClr val="44546A"/>
                </a:solidFill>
              </a:rPr>
              <a:t>H(C,D)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08760" y="3200400"/>
            <a:ext cx="1188720" cy="411480"/>
          </a:xfrm>
          <a:prstGeom prst="roundRect">
            <a:avLst/>
          </a:prstGeom>
          <a:solidFill>
            <a:srgbClr val="C0392B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rPr sz="1100" b="1">
                <a:solidFill>
                  <a:srgbClr val="FFFFFF"/>
                </a:solidFill>
              </a:rPr>
              <a:t>A (변경)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3200400"/>
            <a:ext cx="1188720" cy="411480"/>
          </a:xfrm>
          <a:prstGeom prst="roundRect">
            <a:avLst/>
          </a:prstGeom>
          <a:solidFill>
            <a:srgbClr val="E8ECF2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44546A"/>
                </a:solidFill>
              </a:defRPr>
            </a:pPr>
            <a:r>
              <a:rPr sz="1100" b="0">
                <a:solidFill>
                  <a:srgbClr val="44546A"/>
                </a:solidFill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200400"/>
            <a:ext cx="1188720" cy="411480"/>
          </a:xfrm>
          <a:prstGeom prst="roundRect">
            <a:avLst/>
          </a:prstGeom>
          <a:solidFill>
            <a:srgbClr val="E8ECF2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44546A"/>
                </a:solidFill>
              </a:defRPr>
            </a:pPr>
            <a:r>
              <a:rPr sz="1100" b="0">
                <a:solidFill>
                  <a:srgbClr val="44546A"/>
                </a:solidFill>
              </a:rPr>
              <a:t>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200400"/>
            <a:ext cx="1188720" cy="411480"/>
          </a:xfrm>
          <a:prstGeom prst="roundRect">
            <a:avLst/>
          </a:prstGeom>
          <a:solidFill>
            <a:srgbClr val="E8ECF2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100" b="0">
                <a:solidFill>
                  <a:srgbClr val="44546A"/>
                </a:solidFill>
              </a:defRPr>
            </a:pPr>
            <a:r>
              <a:rPr sz="1100" b="0">
                <a:solidFill>
                  <a:srgbClr val="44546A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1" sz="1200"/>
              <a:t>붉은 노드 = A가 바뀌면서 값이 달라지는 노드(A의 경로). 이것이 CIA가 O(log n)으로 다시 계산하는 부분이다.</a:t>
            </a:r>
          </a:p>
          <a:p>
            <a:pPr>
              <a:defRPr sz="1200"/>
            </a:pPr>
            <a:r>
              <a:rPr b="0" sz="1200"/>
              <a:t>B의 witness에는 A가 들어 있다 → 낡는다. C·D의 witness에는 H(A,B)가 들어 있다 → 낡는다.</a:t>
            </a:r>
          </a:p>
          <a:p>
            <a:pPr>
              <a:defRPr sz="1200"/>
            </a:pPr>
            <a:r>
              <a:rPr b="0" sz="1200"/>
              <a:t>즉 어떤 리프든 A의 경로와 갈라지는 지점의 형제가 바뀐 노드이므로, 남은 전원의 witness에서 정확히 한 원소가 낡는다.</a:t>
            </a:r>
          </a:p>
          <a:p>
            <a:pPr>
              <a:defRPr sz="1200"/>
            </a:pPr>
            <a:r>
              <a:rPr b="1" sz="1200"/>
              <a:t>BAAR에서는 발급도 리프를 추가하므로 발급마다 이 일이 일어난다. 우리(폐기 집합)는 폐기 게시 때만 일어난다 — 종류가 아니라 빈도의 차이다.</a:t>
            </a:r>
          </a:p>
          <a:p>
            <a:pPr>
              <a:defRPr sz="1200"/>
            </a:pPr>
            <a:r>
              <a:rPr b="0" sz="1200"/>
              <a:t>단 우리 IMT v2는 삽입 시 low 리프의 next도 갱신하므로 리프가 둘 바뀐다 — 남은 사용자의 witness에서 최대 두 원소가 낡는다.</a:t>
            </a:r>
          </a:p>
          <a:p>
            <a:pPr>
              <a:defRPr sz="1200"/>
            </a:pPr>
            <a:r>
              <a:rPr b="1" sz="1200"/>
              <a:t>정직한 대조: 우리 지갑도 같은 IdP에서 목록을 받고(가용성·검열 지점 동일), 증분 조회의 지갑별 커서(since·epoch)는 그 자체로 지문이 된다.</a:t>
            </a:r>
          </a:p>
          <a:p>
            <a:pPr>
              <a:defRPr sz="1200"/>
            </a:pPr>
            <a:r>
              <a:rPr b="0" sz="1200"/>
              <a:t>실제 차이는 데이터의 성질이다 — 전원에게 동일한 공개 목록이고 지갑이 root를 스스로 재계산해 대조하므로 누구나 미러링할 수 있고, 잘못된 응답은 즉시 드러난다. 개인별 witness에는 이 성질이 없다.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비판 ① 진짜 문제는 계산량이 아니라 전달 채널이다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흔한 비판: "witness 갱신 비용이 평가에 없다" — 이것만으로는 약하다</a:t>
            </a:r>
          </a:p>
          <a:p>
            <a:pPr lvl="1"/>
            <a:r>
              <a:rPr b="0"/>
              <a:t>우리 실측 1.97 ms는 지갑이 전체 리프 배열을 이미 들고 증분만 받는 전제의 값이다 — BAAR 사용자에게 없는 조건이다</a:t>
            </a:r>
          </a:p>
          <a:p>
            <a:pPr lvl="1"/>
            <a:r>
              <a:rPr b="0"/>
              <a:t>로컬 상태가 없는 쪽에 가까운 값은 콜드 재구성이다: n=32,000에서 3,373 ms(우리 v2). 계산량만으로는 결정적이지 않다</a:t>
            </a:r>
          </a:p>
          <a:p>
            <a:pPr/>
            <a:r>
              <a:rPr b="1"/>
              <a:t>버티는 축 — 누가 새 witness를 주는가 (발표자 분석)</a:t>
            </a:r>
          </a:p>
          <a:p>
            <a:pPr lvl="1"/>
            <a:r>
              <a:rPr b="0"/>
              <a:t>원문은 개별 커밋먼트를 온체인에 저장하지 않고(8번), 오프체인 공개 채널도 명세하지 않는다 → 사용자가 자기 witness를 다시 만들 방법이 없다</a:t>
            </a:r>
          </a:p>
          <a:p>
            <a:pPr lvl="1"/>
            <a:r>
              <a:rPr b="1"/>
              <a:t>원리적 한계는 아니다 — C는 perfectly hiding이라 CIA가 리프 목록을 공개해도 신원이 드러나지 않는다. 다만 논문에 그 설계가 없다</a:t>
            </a:r>
          </a:p>
          <a:p>
            <a:pPr lvl="1"/>
            <a:r>
              <a:rPr b="0"/>
              <a:t>즉 갱신은 CIA에 의존한다 — 상시 가용성이 필요하고, 검열 지점이 되며,</a:t>
            </a:r>
          </a:p>
          <a:p>
            <a:pPr lvl="1"/>
            <a:r>
              <a:rPr b="1"/>
              <a:t>"누가 언제 갱신을 요청했는가"가 CIA에게 그대로 남는다(익명성 주장과 정면으로 긴장한다)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비판 ② 손익분기 — 갱신 트래픽 대 회로 비용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두 방식은 서로 다른 비용을 낸다. 한 축만 보면 손익분기가 없다 (발표자 분석)</a:t>
            </a:r>
          </a:p>
          <a:p>
            <a:pPr lvl="1"/>
            <a:r>
              <a:rPr b="0"/>
              <a:t>root 변경 빈도만 비교하면 λ_발급+λ_폐기(BAAR) ≥ λ_폐기(우리)라 우리가 항상 이긴다 — 그건 비교가 아니다</a:t>
            </a:r>
          </a:p>
          <a:p>
            <a:pPr/>
            <a:r>
              <a:rPr b="1"/>
              <a:t>두 항으로 놓아야 갈림길이 보인다</a:t>
            </a:r>
          </a:p>
          <a:p>
            <a:pPr lvl="1"/>
            <a:r>
              <a:rPr b="0"/>
              <a:t>BAAR가 더 내는 것:  (λ_발급 − λ_재기준화) × N_users × c_갱신   ← 폐기 게시는 양쪽 다 내므로 상쇄된다</a:t>
            </a:r>
          </a:p>
          <a:p>
            <a:pPr lvl="1"/>
            <a:r>
              <a:rPr b="0"/>
              <a:t>우리가 더 내는 것:  λ_인증 × Δc_회로                          ← 인증 1회마다 붙는 비멤버십 비용</a:t>
            </a:r>
          </a:p>
          <a:p>
            <a:pPr lvl="1"/>
            <a:r>
              <a:rPr b="0"/>
              <a:t>두 항은 단위가 다르므로 같은 척도(예: 사용자·단위시간당 지갑 CPU ms)로 환산해 비교해야 한다</a:t>
            </a:r>
          </a:p>
          <a:p>
            <a:pPr lvl="1"/>
            <a:r>
              <a:rPr b="0"/>
              <a:t>손익분기는 그렇게 환산한 두 값이 같아지는 지점이다. N이 크고 발급이 잦을수록 BAAR 쪽이 커진다</a:t>
            </a:r>
          </a:p>
          <a:p>
            <a:pPr/>
            <a:r>
              <a:rPr b="1"/>
              <a:t>우리 쪽 항의 크기 (우리 실측)</a:t>
            </a:r>
          </a:p>
          <a:p>
            <a:pPr lvl="1"/>
            <a:r>
              <a:rPr b="0"/>
              <a:t>비멤버십 검증 1개 = 6,648 constraints. pi_pk_i는 세션·계정 두 번 인스턴스화한다 → 13,296</a:t>
            </a:r>
          </a:p>
          <a:p>
            <a:pPr lvl="1"/>
            <a:r>
              <a:rPr b="0"/>
              <a:t>전체 19,251 중 69%가 폐기 확인 비용이다</a:t>
            </a:r>
          </a:p>
          <a:p>
            <a:pPr lvl="1"/>
            <a:r>
              <a:rPr b="1"/>
              <a:t>단 constraints 69%가 시간 69%는 아니다 — 4,820 → 19,251(4.0배)일 때 295.5 → 755.8 ms(2.56배)다. 20번에서 BAAR를 때린 논리를 우리도 지켜야 한다</a:t>
            </a:r>
          </a:p>
          <a:p>
            <a:pPr/>
            <a:r>
              <a:rPr b="1"/>
              <a:t>그래서: 우리는 세션마다 발급하므로(λ_발급 ≫ λ_폐기) BAAR 방식이면 갱신이 상시로 흐른다. 반대로 발급이 드문 환경이라면 회로 69%를 아끼는 BAAR 쪽이 낫다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비판 ③ 검증자가 어디 있는가 — 수치를 옮길 수 없는 이유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389120"/>
                <a:gridCol w="4297680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BAAR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우리 시스템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검증자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오프체인 주체 (체인에서 root만 읽음)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스마트컨트랙트 (PPIDWallet.execute)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증명 방식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Schnorr Σ-protocol + Fiat–Shamir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Groth16 (circom)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증명이 검증되는 곳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오프체인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온체인 (verifier 컨트랙트)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그래서 생기는 제약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가벼운 증명이면 충분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300"/>
                      </a:pPr>
                      <a:r>
                        <a:rPr sz="1300"/>
                        <a:t>회로 제약 수가 곧 비용 — Σ-protocol은 온체인 검증에 부적합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749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발표자 분석: BAAR의 200 ms·60K gas를 우리 시스템에 그대로 옮길 수 없는 근본 이유다.</a:t>
            </a:r>
          </a:p>
          <a:p>
            <a:pPr>
              <a:defRPr sz="1200"/>
            </a:pPr>
            <a:r>
              <a:rPr b="0" sz="1200"/>
              <a:t>내부 문서 4.8절은 "Merkle 경로를 회로에 넣으면 9,680 constraints, 500~590 ms"로 추정했으나 실제는 19,251이다. 빗나간 9,568을 셋으로 나누면: 개수(멤버십 1개 추정 vs 비멤버십 2개 구현) +6,648, 건당 차이(6,648 vs 4,860) +1,788, base 회로 증가(계정 바인딩·pk_i 범위 등) +1,135. 즉 주된 이유는 개수이지 "비멤버십이 훨씬 비싸서"가 아니다.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설계와의 대조 — 같은 도구, 반대 방향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48056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BAAR (원문)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sz="1300" b="1">
                          <a:solidFill>
                            <a:srgbClr val="FFFFFF"/>
                          </a:solidFill>
                        </a:rPr>
                        <a:t>우리 구현 (우리 실측)</a:t>
                      </a:r>
                    </a:p>
                  </a:txBody>
                  <a:tcPr anchor="ctr">
                    <a:solidFill>
                      <a:srgbClr val="44546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트리 의미 / 증명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유효 크레덴셜 집합 / 멤버십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폐기 집합 / 비멤버십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온체인 상태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root (32B)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root (32B), isCurrentRoot로 최신 하나만 인정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폐기 반영 시점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제거 즉시 (유예 없음)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게시 주기 (prepare → pushRoot → commit)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회로 비용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해당 없음 (오프체인 검증)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pi_pk_i 19,251 constraints (폐기 확인이 69%), 증명 warm 755.8 ms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온체인 실행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검증 ~60K gas (오프체인 증명 전제)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execute() 첫 호출 276,709 gas (Groth16 검증 포함)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트리 갱신 트리거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발급 + 폐기 (둘 다 root 변경)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폐기 게시 + 재기준화 (발급은 트리 불변)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갱신 방식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CIA가 새 witness를 줘야 한다</a:t>
                      </a:r>
                    </a:p>
                  </a:txBody>
                  <a:tcPr anchor="ctr"/>
                </a:tc>
                <a:tc>
                  <a:txBody>
                    <a:bodyPr wrap="square"/>
                    <a:lstStyle/>
                    <a:p>
                      <a:pPr>
                        <a:defRPr sz="1200"/>
                      </a:pPr>
                      <a:r>
                        <a:rPr sz="1200"/>
                        <a:t>지갑이 공개 목록으로 스스로 재구성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6636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b="0" sz="1200"/>
              <a:t>우리 실측 출처: results/mode2_pi_pk_i_proof_20260904.csv (warm 755.8 ms, 표본 SD ±15.7, n=5 / cold 1,650.6 ms), results/mode2_execute_gas_20260904.csv (constraints·gas·비멤버십 개수).</a:t>
            </a:r>
          </a:p>
          <a:p>
            <a:pPr>
              <a:defRPr sz="1200"/>
            </a:pPr>
            <a:r>
              <a:rPr b="0" sz="1200"/>
              <a:t>gas 276,709은 첫 execute다 — nonce 0→1 SSTORE(cold)를 포함한다. 같은 지갑의 이후 호출은 그만큼 낮다(미측정).</a:t>
            </a:r>
          </a:p>
          <a:p>
            <a:pPr>
              <a:defRPr sz="1200"/>
            </a:pPr>
            <a:r>
              <a:rPr b="0" sz="1200"/>
              <a:t>정직하게: 우리도 root가 바뀌면 모든 사용자의 witness가 낡는다. 빈도가 다를 뿐 성질은 같다.</a:t>
            </a:r>
          </a:p>
          <a:p>
            <a:pPr>
              <a:defRPr sz="1200"/>
            </a:pPr>
            <a:r>
              <a:rPr b="0" sz="1200"/>
              <a:t>그리고 우리에게는 재기준화가 있다 — append-only라 슬롯 회수가 그때만 되고, epoch가 오르면 지갑은 증분으로 못 따라잡아 전체를 다시 받는다(한 원소가 낡는 것보다 나쁘다). 드물 뿐이다.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우리가 지는 지점 — 즉시 폐기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BAAR: 리프를 빼는 순간 효력이 생긴다. 유예 창이 없다</a:t>
            </a:r>
          </a:p>
          <a:p>
            <a:pPr/>
            <a:r>
              <a:rPr b="1"/>
              <a:t>우리: 폐기는 게시 주기가 지나야 효력이 생긴다</a:t>
            </a:r>
          </a:p>
          <a:p>
            <a:pPr lvl="1"/>
            <a:r>
              <a:rPr b="0"/>
              <a:t>접수(pendingAdds) → prepare → 온체인 pushRoot → commit 의 2단계 게시를 거친다</a:t>
            </a:r>
          </a:p>
          <a:p>
            <a:pPr lvl="1"/>
            <a:r>
              <a:rPr b="0"/>
              <a:t>그래서 "폐기 지연 = 게시 주기"이고, 주기를 줄이면 가스와 운영 부담이 는다</a:t>
            </a:r>
          </a:p>
          <a:p>
            <a:pPr/>
            <a:r>
              <a:rPr b="1"/>
              <a:t>왜 그렇게 했는가 (발표자 분석)</a:t>
            </a:r>
          </a:p>
          <a:p>
            <a:pPr lvl="1"/>
            <a:r>
              <a:rPr b="0"/>
              <a:t>온체인 게시가 확정되기 전에 IdP가 먼저 전진하면, 지갑이 만드는 witness의 root와 체인의 root가 어긋나 전원이 막힌다</a:t>
            </a:r>
          </a:p>
          <a:p>
            <a:pPr lvl="1"/>
            <a:r>
              <a:rPr b="0"/>
              <a:t>그래서 push가 확정된 뒤에만 IdP가 전진하도록 prepare/commit으로 나눴다 — 원자성을 위해 지연을 산 것이다</a:t>
            </a:r>
          </a:p>
          <a:p>
            <a:pPr lvl="1"/>
            <a:r>
              <a:rPr b="0"/>
              <a:t>폐기 하나마다 트랜잭션을 보내면 즉시성은 얻지만 가스와 실패 처리가 사이클마다 붙는다</a:t>
            </a:r>
          </a:p>
          <a:p>
            <a:pPr/>
            <a:r>
              <a:rPr b="1"/>
              <a:t>논의거리: 즉시 폐기를 원한다면 우리는 무엇을 포기해야 하는가?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정리와 논의거리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이 논문이 잘한 것</a:t>
            </a:r>
          </a:p>
          <a:p>
            <a:pPr lvl="1"/>
            <a:r>
              <a:rPr b="0"/>
              <a:t>배포 제약(secp256k1, pairing 없음)에서 출발해 일관된 설계를 만들었다</a:t>
            </a:r>
          </a:p>
          <a:p>
            <a:pPr lvl="1"/>
            <a:r>
              <a:rPr b="0"/>
              <a:t>폐기 상태를 root 하나로 압축해 온체인 비용을 30K gas까지 낮췄다</a:t>
            </a:r>
          </a:p>
          <a:p>
            <a:pPr lvl="1"/>
            <a:r>
              <a:rPr b="0"/>
              <a:t>보안 속성을 게임으로 정의하고 Lemma로 나눠 논증했다</a:t>
            </a:r>
          </a:p>
          <a:p>
            <a:pPr/>
            <a:r>
              <a:rPr b="1"/>
              <a:t>약한 것</a:t>
            </a:r>
          </a:p>
          <a:p>
            <a:pPr lvl="1"/>
            <a:r>
              <a:rPr b="0"/>
              <a:t>속성 확장성 주장이 같은 논문의 복잡도 표(O(n))와 충돌하고, 비교 대상이 뒤섞였다(19번)</a:t>
            </a:r>
          </a:p>
          <a:p>
            <a:pPr lvl="1"/>
            <a:r>
              <a:rPr b="0"/>
              <a:t>witness 갱신의 전달 채널이 설계·평가 어디에도 없다 — CIA 상시 의존이 숨어 있다(22번)</a:t>
            </a:r>
          </a:p>
          <a:p>
            <a:pPr lvl="1"/>
            <a:r>
              <a:rPr b="1"/>
              <a:t>unlinkability 주장과 프로토콜이 어긋난다 — C와 witness를 평문으로 넘기므로 검증자 하나로 세션 연결이 된다(16번)</a:t>
            </a:r>
          </a:p>
          <a:p>
            <a:pPr lvl="1"/>
            <a:r>
              <a:rPr b="0"/>
              <a:t>명시적 limitations·future work 절이 없다</a:t>
            </a:r>
          </a:p>
          <a:p>
            <a:pPr/>
            <a:r>
              <a:rPr b="1"/>
              <a:t>논의하고 싶은 것</a:t>
            </a:r>
          </a:p>
          <a:p>
            <a:pPr lvl="1"/>
            <a:r>
              <a:rPr b="0"/>
              <a:t>λ_발급 vs λ_폐기 — 우리 문제에서 이 비는 얼마인가? 그 값이 멤버십/비멤버십을 가른다(22번)</a:t>
            </a:r>
          </a:p>
          <a:p>
            <a:pPr lvl="1"/>
            <a:r>
              <a:rPr b="0"/>
              <a:t>온체인 검증자를 전제하면 Σ-protocol 계열은 선택지에서 빠지는가?</a:t>
            </a:r>
          </a:p>
          <a:p>
            <a:pPr lvl="1"/>
            <a:r>
              <a:rPr b="0"/>
              <a:t>우리 내부 문서(§3.1 표·§3.3 트리거)의 BAAR 서술을 정정해야 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77459</TotalTime>
  <Words>5133</Words>
  <Application>Microsoft Office PowerPoint</Application>
  <PresentationFormat>와이드스크린</PresentationFormat>
  <Paragraphs>968</Paragraphs>
  <Slides>55</Slides>
  <Notes>18</Notes>
  <HiddenSlides>2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3" baseType="lpstr">
      <vt:lpstr>Nunito</vt:lpstr>
      <vt:lpstr>맑은 고딕</vt:lpstr>
      <vt:lpstr>Arial</vt:lpstr>
      <vt:lpstr>Calibri</vt:lpstr>
      <vt:lpstr>Cambria Math</vt:lpstr>
      <vt:lpstr>Gill Sans MT</vt:lpstr>
      <vt:lpstr>Wingdings</vt:lpstr>
      <vt:lpstr>Office 테마</vt:lpstr>
      <vt:lpstr>An Efficient Delegated User Authentication Protocol for Web3 Services</vt:lpstr>
      <vt:lpstr>Setup</vt:lpstr>
      <vt:lpstr>Verification of Authorization Endpoint </vt:lpstr>
      <vt:lpstr>SSO Protocol</vt:lpstr>
      <vt:lpstr>SSO Protocol for Session i</vt:lpstr>
      <vt:lpstr>Security Concerns (1): Port</vt:lpstr>
      <vt:lpstr>Security Concerns (2): Wallet-Only SSO</vt:lpstr>
      <vt:lpstr>Security Concerns (3): Security of Browser</vt:lpstr>
      <vt:lpstr>Privacy Concerns (1): Identity of RP FE</vt:lpstr>
      <vt:lpstr>Privacy Concerns (2): Unobservability</vt:lpstr>
      <vt:lpstr>Privacy Concerns (3): Unlinkability</vt:lpstr>
      <vt:lpstr>Minor Concerns</vt:lpstr>
      <vt:lpstr>PowerPoint 프레젠테이션</vt:lpstr>
      <vt:lpstr>Security Concerns (4): auid Uniqueness</vt:lpstr>
      <vt:lpstr>Security Concerns (5): Replay Attack</vt:lpstr>
      <vt:lpstr>Privacy Concerns (4): Traceability</vt:lpstr>
      <vt:lpstr>〖RP〗_Auth vs. ZKP</vt:lpstr>
      <vt:lpstr>현재 트랜잭션 실행 방식</vt:lpstr>
      <vt:lpstr>PPIDWallet.sol의 실행 함수</vt:lpstr>
      <vt:lpstr>RP-IdP 협조를 강제할 수 있는 방안 필요성 여부</vt:lpstr>
      <vt:lpstr>How Proposed Approach Satisfies Properties</vt:lpstr>
      <vt:lpstr>Salt Uniqueness</vt:lpstr>
      <vt:lpstr>RP Verification in IdP</vt:lpstr>
      <vt:lpstr>User Verification in RP</vt:lpstr>
      <vt:lpstr>ZKPs in Our Protocol</vt:lpstr>
      <vt:lpstr>ZKPs in Our Protocol</vt:lpstr>
      <vt:lpstr>ZKPs in Our Protocol</vt:lpstr>
      <vt:lpstr>Transaction</vt:lpstr>
      <vt:lpstr>ZKP Generation Overhead</vt:lpstr>
      <vt:lpstr>Proof for session public key verification  Compared to zkLogin</vt:lpstr>
      <vt:lpstr>PowerPoint 프레젠테이션</vt:lpstr>
      <vt:lpstr>Account Abstraction Wallet)  Web3 Authentication Process (Abstract)</vt:lpstr>
      <vt:lpstr>Existing Solutions</vt:lpstr>
      <vt:lpstr>PPID Generation on Existing Solutions</vt:lpstr>
      <vt:lpstr>VeriSSO Overview</vt:lpstr>
      <vt:lpstr>EL PASSO Overview</vt:lpstr>
      <vt:lpstr>Naïve Delegated Authentication in Web3 (RP ver.)</vt:lpstr>
      <vt:lpstr>Existing Solutions</vt:lpstr>
      <vt:lpstr>Privacy Support</vt:lpstr>
      <vt:lpstr>Implementation Details</vt:lpstr>
      <vt:lpstr>Design</vt:lpstr>
      <vt:lpstr>Terminologies</vt:lpstr>
      <vt:lpstr>Proposed Web3 Authentication Process </vt:lpstr>
      <vt:lpstr>PPID Generation</vt:lpstr>
      <vt:lpstr>Confirm Delegated Login Information</vt:lpstr>
      <vt:lpstr>Authentication Token Issuance</vt:lpstr>
      <vt:lpstr>PPID verification</vt:lpstr>
      <vt:lpstr>Additional Privacy Requirements</vt:lpstr>
      <vt:lpstr> Case of Offline Dictionary Attack</vt:lpstr>
      <vt:lpstr> Case of Offline Dictionary Attack</vt:lpstr>
      <vt:lpstr>Main Goal</vt:lpstr>
      <vt:lpstr>Step-by-Step Operations</vt:lpstr>
      <vt:lpstr>Comparisons</vt:lpstr>
      <vt:lpstr>Prototype and Evaluation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BAAR 논문 리뷰 세미나</dc:title>
  <dc:creator>Moonhyeon Chung</dc:creator>
  <cp:lastModifiedBy>정문현</cp:lastModifiedBy>
  <cp:revision>4522</cp:revision>
  <cp:lastPrinted>2025-12-17T02:23:57Z</cp:lastPrinted>
  <dcterms:created xsi:type="dcterms:W3CDTF">2017-10-09T11:48:53Z</dcterms:created>
  <dcterms:modified xsi:type="dcterms:W3CDTF">2026-07-31T04:53:12Z</dcterms:modified>
  <dc:subject>BAAR (PLOS ONE 21(3): e0343696) paper review</dc:subject>
  <dc:description>빌더: scripts/build_baar_seminar_slides_260903.py</dc:description>
</cp:coreProperties>
</file>