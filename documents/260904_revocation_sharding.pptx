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57"/>
  </p:notesMasterIdLst>
  <p:handoutMasterIdLst>
    <p:handoutMasterId r:id="rId5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EAADFB1-7652-4F9B-B65F-50710FAA7B34}">
          <p14:sldIdLst>
            <p14:sldId id="2307"/>
            <p14:sldId id="3604"/>
            <p14:sldId id="3607"/>
            <p14:sldId id="3599"/>
            <p14:sldId id="3603"/>
          </p14:sldIdLst>
        </p14:section>
        <p14:section name="Security" id="{D8F635D6-CFF4-4609-9B0D-1703A08783B4}">
          <p14:sldIdLst>
            <p14:sldId id="3606"/>
            <p14:sldId id="3609"/>
            <p14:sldId id="3610"/>
          </p14:sldIdLst>
        </p14:section>
        <p14:section name="Privacy" id="{351BBEB5-A275-4250-8638-BD1545BCBCC1}">
          <p14:sldIdLst>
            <p14:sldId id="3611"/>
            <p14:sldId id="3613"/>
            <p14:sldId id="3614"/>
            <p14:sldId id="3608"/>
          </p14:sldIdLst>
        </p14:section>
        <p14:section name="Q&amp;A" id="{AF8981F6-8C5B-47AD-A55F-B07B38231427}">
          <p14:sldIdLst>
            <p14:sldId id="693"/>
            <p14:sldId id="3612"/>
            <p14:sldId id="3615"/>
            <p14:sldId id="3616"/>
          </p14:sldIdLst>
        </p14:section>
        <p14:section name="supplementary" id="{082B26CD-3869-4D6C-8D70-5FC328A604FB}">
          <p14:sldIdLst>
            <p14:sldId id="3597"/>
            <p14:sldId id="3601"/>
            <p14:sldId id="3600"/>
            <p14:sldId id="3595"/>
            <p14:sldId id="3584"/>
            <p14:sldId id="3585"/>
            <p14:sldId id="3587"/>
            <p14:sldId id="3588"/>
            <p14:sldId id="3590"/>
            <p14:sldId id="3591"/>
            <p14:sldId id="3592"/>
            <p14:sldId id="3594"/>
            <p14:sldId id="3589"/>
            <p14:sldId id="3576"/>
            <p14:sldId id="3602"/>
            <p14:sldId id="3565"/>
            <p14:sldId id="3498"/>
            <p14:sldId id="3548"/>
            <p14:sldId id="3549"/>
            <p14:sldId id="3550"/>
            <p14:sldId id="3544"/>
            <p14:sldId id="3512"/>
          </p14:sldIdLst>
        </p14:section>
        <p14:section name="prev" id="{36E91D21-0121-4EDA-BC85-A5D5DB894AAD}">
          <p14:sldIdLst>
            <p14:sldId id="3530"/>
            <p14:sldId id="3527"/>
            <p14:sldId id="3547"/>
            <p14:sldId id="3531"/>
            <p14:sldId id="3534"/>
            <p14:sldId id="3535"/>
            <p14:sldId id="3536"/>
            <p14:sldId id="3537"/>
            <p14:sldId id="3538"/>
            <p14:sldId id="3496"/>
            <p14:sldId id="3473"/>
            <p14:sldId id="3551"/>
            <p14:sldId id="3506"/>
            <p14:sldId id="3528"/>
            <p14:sldId id="3505"/>
            <p14:sldId id="3552"/>
            <p14:sldId id="3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98" userDrawn="1">
          <p15:clr>
            <a:srgbClr val="A4A3A4"/>
          </p15:clr>
        </p15:guide>
        <p15:guide id="2" pos="55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정 문현" initials="정문" lastIdx="2" clrIdx="0">
    <p:extLst>
      <p:ext uri="{19B8F6BF-5375-455C-9EA6-DF929625EA0E}">
        <p15:presenceInfo xmlns:p15="http://schemas.microsoft.com/office/powerpoint/2012/main" userId="c5a31bce6c4d4f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4ED"/>
    <a:srgbClr val="2F528F"/>
    <a:srgbClr val="FBE5D6"/>
    <a:srgbClr val="ED7D31"/>
    <a:srgbClr val="B4C7E7"/>
    <a:srgbClr val="E5E5E5"/>
    <a:srgbClr val="7030A0"/>
    <a:srgbClr val="C55A11"/>
    <a:srgbClr val="FFCCFF"/>
    <a:srgbClr val="EEE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7" autoAdjust="0"/>
    <p:restoredTop sz="76564" autoAdjust="0"/>
  </p:normalViewPr>
  <p:slideViewPr>
    <p:cSldViewPr>
      <p:cViewPr>
        <p:scale>
          <a:sx n="66" d="100"/>
          <a:sy n="66" d="100"/>
        </p:scale>
        <p:origin x="90" y="690"/>
      </p:cViewPr>
      <p:guideLst>
        <p:guide orient="horz" pos="1298"/>
        <p:guide pos="5564"/>
      </p:guideLst>
    </p:cSldViewPr>
  </p:slideViewPr>
  <p:outlineViewPr>
    <p:cViewPr>
      <p:scale>
        <a:sx n="33" d="100"/>
        <a:sy n="33" d="100"/>
      </p:scale>
      <p:origin x="0" y="-15028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232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57" Type="http://schemas.openxmlformats.org/officeDocument/2006/relationships/notesMaster" Target="notesMasters/notesMaster1.xml"/><Relationship Id="rId58" Type="http://schemas.openxmlformats.org/officeDocument/2006/relationships/handoutMaster" Target="handoutMasters/handoutMaster1.xml"/><Relationship Id="rId59" Type="http://schemas.openxmlformats.org/officeDocument/2006/relationships/commentAuthors" Target="commentAuthors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>
              <a:defRPr sz="1200"/>
            </a:lvl1pPr>
          </a:lstStyle>
          <a:p>
            <a:fld id="{92F0BB66-0388-4A63-AA93-B2E3A50E3697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287"/>
            <a:ext cx="2918830" cy="495027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5" y="9371287"/>
            <a:ext cx="2918830" cy="495027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r">
              <a:defRPr sz="1200"/>
            </a:lvl1pPr>
          </a:lstStyle>
          <a:p>
            <a:fld id="{CD6CEEF8-01BD-42E6-AEE2-CA48D42E8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773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3316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3316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>
              <a:defRPr sz="1200"/>
            </a:lvl1pPr>
          </a:lstStyle>
          <a:p>
            <a:fld id="{78836130-6F6C-40C6-AEC0-26A91B324EF3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4" tIns="45377" rIns="90754" bIns="4537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0754" tIns="45377" rIns="90754" bIns="4537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7"/>
            <a:ext cx="2918830" cy="493316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7"/>
            <a:ext cx="2918830" cy="493316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r">
              <a:defRPr sz="1200"/>
            </a:lvl1pPr>
          </a:lstStyle>
          <a:p>
            <a:fld id="{559887F7-3714-4B43-BD58-3E0F022AC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1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latin typeface="Gill Sans MT" panose="020B0502020104020203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707A0E-4431-4062-B680-C2E18B7A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BE42-407A-4001-A0C2-11D5837D2FE3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23DA20-478F-4242-ADFF-1EA11223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15ADAB-DF50-41BD-97A4-0E95B4C5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19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59" y="116632"/>
            <a:ext cx="11521282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59" y="1442195"/>
            <a:ext cx="11521282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D14F-29B6-45E8-8F09-66A02A93BEED}" type="datetime1">
              <a:rPr lang="ko-KR" altLang="en-US" smtClean="0"/>
              <a:t>2026-07-31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Gill Sans MT" panose="020B0502020104020203" pitchFamily="34" charset="0"/>
              </a:defRPr>
            </a:lvl1pPr>
          </a:lstStyle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8ADF1E-CE30-4061-93EF-603CE3FF43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6534795"/>
            <a:ext cx="1296144" cy="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9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로고없음_제목_및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59" y="116632"/>
            <a:ext cx="11521282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59" y="1442195"/>
            <a:ext cx="11521282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D14F-29B6-45E8-8F09-66A02A93BEED}" type="datetime1">
              <a:rPr lang="ko-KR" altLang="en-US" smtClean="0"/>
              <a:t>2026-07-31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Gill Sans MT" panose="020B0502020104020203" pitchFamily="34" charset="0"/>
              </a:defRPr>
            </a:lvl1pPr>
          </a:lstStyle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230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 필요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59" y="116632"/>
            <a:ext cx="11521282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59" y="1442195"/>
            <a:ext cx="11521282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D14F-29B6-45E8-8F09-66A02A93BEED}" type="datetime1">
              <a:rPr lang="ko-KR" altLang="en-US" smtClean="0"/>
              <a:t>2026-07-31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Gill Sans MT" panose="020B0502020104020203" pitchFamily="34" charset="0"/>
              </a:defRPr>
            </a:lvl1pPr>
          </a:lstStyle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EF98DA6D-825E-4CE7-B3F9-1DCD7B8363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3175" y="6512768"/>
            <a:ext cx="11860213" cy="2286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defRPr>
            </a:lvl1pPr>
            <a:lvl2pPr>
              <a:defRPr sz="1200">
                <a:latin typeface="Gill Sans MT" panose="020B0502020104020203" pitchFamily="34" charset="0"/>
              </a:defRPr>
            </a:lvl2pPr>
            <a:lvl3pPr>
              <a:defRPr sz="1100">
                <a:latin typeface="Gill Sans MT" panose="020B0502020104020203" pitchFamily="34" charset="0"/>
              </a:defRPr>
            </a:lvl3pPr>
            <a:lvl4pPr>
              <a:defRPr sz="1050">
                <a:latin typeface="Gill Sans MT" panose="020B0502020104020203" pitchFamily="34" charset="0"/>
              </a:defRPr>
            </a:lvl4pPr>
            <a:lvl5pPr>
              <a:defRPr sz="1050">
                <a:latin typeface="Gill Sans MT" panose="020B0502020104020203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3A93F2E-79E9-4CAD-A66F-BDD8A2AF62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6534795"/>
            <a:ext cx="1296144" cy="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2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16C1-A4C7-4657-ADD1-B89812EE45A3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80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A6822-3CEC-485D-A009-BBDFFA54A112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BFDC-2E73-4FDA-89BF-267F4F72D5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D59325C-2409-4F27-96A9-15DE92040D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6534795"/>
            <a:ext cx="1296144" cy="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4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322E-10D3-4C6C-9570-81AA8B4B4F29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BFDC-2E73-4FDA-89BF-267F4F72D5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BEA323-DEC6-4404-9444-C0311173B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6534795"/>
            <a:ext cx="1296144" cy="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4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268B-F3AD-D7A3-A66B-0F97F25E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E6EA6-531B-4AE5-2F2A-225297E1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528A-41D2-4C62-A68D-6A2550539437}" type="datetime1">
              <a:rPr lang="x-none" altLang="ko-KR" smtClean="0"/>
              <a:t>2026-07-31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077A0-9890-991D-F89D-B3F86F62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3F9B3-C610-4DB6-C48E-21A445B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0625B-0B75-924F-914D-58A4257CED2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72760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2" y="116632"/>
            <a:ext cx="115212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1" y="1442195"/>
            <a:ext cx="115212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5BE42-407A-4001-A0C2-11D5837D2FE3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890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</a:lstStyle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71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46" r:id="rId3"/>
    <p:sldLayoutId id="2147483845" r:id="rId4"/>
    <p:sldLayoutId id="2147483836" r:id="rId5"/>
    <p:sldLayoutId id="2147483838" r:id="rId6"/>
    <p:sldLayoutId id="2147483840" r:id="rId7"/>
    <p:sldLayoutId id="2147483847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폐기 트리 샤딩 — 증명을 로그인당 1회로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PairCT Mode 2 폐기 구조 · 2026-09-04 설계, 2026-09-06 구현·전환 완료</a:t>
            </a:r>
          </a:p>
        </p:txBody>
      </p:sp>
      <p:pic>
        <p:nvPicPr>
          <p:cNvPr id="4" name="Picture 3" descr="pos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64" y="4951853"/>
            <a:ext cx="4248472" cy="611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지금 무엇이 문제인가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증명이 revocationRoot 하나에 통째로 묶여 있다</a:t>
            </a:r>
          </a:p>
          <a:p>
            <a:pPr lvl="1"/>
            <a:r>
              <a:rPr b="0"/>
              <a:t>pi_pk_i의 public signal에 revocationRoot가 들어간다</a:t>
            </a:r>
          </a:p>
          <a:p>
            <a:pPr lvl="1"/>
            <a:r>
              <a:rPr b="0"/>
              <a:t>PPIDWallet.execute는 registry.isCurrentRoot(revocationRoot)를 먼저 본다</a:t>
            </a:r>
          </a:p>
          <a:p>
            <a:pPr lvl="1"/>
            <a:r>
              <a:rPr b="0"/>
              <a:t>따라서 폐기가 하나만 게시돼도 전 지갑의 증명이 동시에 죽는다</a:t>
            </a:r>
          </a:p>
          <a:p>
            <a:pPr/>
            <a:r>
              <a:rPr b="1"/>
              <a:t>규모에서 이게 얼마나 나쁜가 (100M DAU, 폐기 1만/일 = 0.01%/일 가정)</a:t>
            </a:r>
          </a:p>
          <a:p>
            <a:pPr lvl="1"/>
            <a:r>
              <a:rPr b="0"/>
              <a:t>폐기 0.116건/초 = 블록당 약 1.4건 — 매 블록 root가 바뀐다</a:t>
            </a:r>
          </a:p>
          <a:p>
            <a:pPr lvl="1"/>
            <a:r>
              <a:rPr b="0"/>
              <a:t>증명 생성에 755.8ms가 걸리는데, 만들자마자 죽는다</a:t>
            </a:r>
          </a:p>
          <a:p>
            <a:pPr/>
            <a:r>
              <a:rPr b="1"/>
              <a:t>지금은 배칭이 이걸 가려주고 있다</a:t>
            </a:r>
          </a:p>
          <a:p>
            <a:pPr lvl="1"/>
            <a:r>
              <a:rPr b="0"/>
              <a:t>5분 배칭이면 폐기 35건을 root 변경 1회로 묶으므로 증명이 5분 산다</a:t>
            </a:r>
          </a:p>
          <a:p>
            <a:pPr lvl="1"/>
            <a:r>
              <a:rPr b="0"/>
              <a:t>대신 폐기가 최대 5분 늦게 듣는다 — BAAR 대비 우리가 지는 유일한 지점</a:t>
            </a:r>
          </a:p>
          <a:p>
            <a:pPr lvl="1"/>
            <a:r>
              <a:rPr b="1"/>
              <a:t>배칭 주기 = 증명 수명 = 폐기 지연이 한 덩어리로 묶여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먼저: root와 무관한 증명은 만들 수 없다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두 요구가 동시에 걸려 있다</a:t>
            </a:r>
          </a:p>
          <a:p>
            <a:pPr lvl="1"/>
            <a:r>
              <a:rPr b="0"/>
              <a:t>리프(L_acct, L_sess)는 숨겨야 한다 — 드러나면 교차-RP 연결이 뚫린다</a:t>
            </a:r>
          </a:p>
          <a:p>
            <a:pPr lvl="1"/>
            <a:r>
              <a:rPr b="0"/>
              <a:t>컨트랙트는 현재 폐기 상태에 대해 검증해야 한다</a:t>
            </a:r>
          </a:p>
          <a:p>
            <a:pPr/>
            <a:r>
              <a:rPr b="1"/>
              <a:t>그런데 컨트랙트는 숨겨진 값의 멤버십을 볼 수 없다</a:t>
            </a:r>
          </a:p>
          <a:p>
            <a:pPr lvl="1"/>
            <a:r>
              <a:rPr b="0"/>
              <a:t>따라서 신선도 검사는 회로 안에 있어야 하고, 그러면 회로가 root에 묶인다</a:t>
            </a:r>
          </a:p>
          <a:p>
            <a:pPr lvl="1"/>
            <a:r>
              <a:rPr b="0"/>
              <a:t>커밋먼트로 감싸도 마찬가지다 — 컨트랙트는 여전히 그 값을 트리에서 못 찾는다</a:t>
            </a:r>
          </a:p>
          <a:p>
            <a:pPr/>
            <a:r>
              <a:rPr b="1"/>
              <a:t>그래서 레버는 셋뿐이다</a:t>
            </a:r>
          </a:p>
          <a:p>
            <a:pPr lvl="1"/>
            <a:r>
              <a:rPr b="1"/>
              <a:t>① 어떤 root에 묶느냐 — root가 덜 자주 바뀌게 만든다 (4~10번)</a:t>
            </a:r>
          </a:p>
          <a:p>
            <a:pPr lvl="1"/>
            <a:r>
              <a:rPr b="1"/>
              <a:t>② 그 root가 얼마나 오래 유효하냐 — grace window (11번)</a:t>
            </a:r>
          </a:p>
          <a:p>
            <a:pPr lvl="1"/>
            <a:r>
              <a:rPr b="1"/>
              <a:t>③ 그 root를 누가 정하느냐 — 갱신 정당성 (12~13번)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설계: 깊이 20 트리를 중간에서 자른다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1280160"/>
            <a:ext cx="3840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44546A"/>
                </a:solidFill>
              </a:defRPr>
            </a:pPr>
            <a:r>
              <a:rPr sz="1100" b="1">
                <a:solidFill>
                  <a:srgbClr val="44546A"/>
                </a:solidFill>
              </a:rPr>
              <a:t>latestTopRoot (bytes32 1개)  ·  레지스트리는 지금 그대로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828800"/>
            <a:ext cx="6400800" cy="502920"/>
          </a:xfrm>
          <a:prstGeom prst="roundRect">
            <a:avLst/>
          </a:prstGeom>
          <a:solidFill>
            <a:srgbClr val="E8ECF2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상위 트리  ·  keccak256  —  컨트랙트가 Solidity에서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505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rPr sz="1100" b="0">
                <a:solidFill>
                  <a:srgbClr val="C0392B"/>
                </a:solidFill>
              </a:rPr>
              <a:t>───────────────  절단면  ───────────────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788920"/>
            <a:ext cx="4480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세션 서브트리  4,096개</a:t>
            </a:r>
          </a:p>
          <a:p>
            <a:pPr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Poseidon 깊이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788920"/>
            <a:ext cx="4480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계정 서브트리  1,024개</a:t>
            </a:r>
          </a:p>
          <a:p>
            <a:pPr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Poseidon 깊이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회로가 비멤버십을 증명하는 구간  —  SNARK는 sess_root와 acct_root에만 묶인다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상위 트리는 회로에 들어가지 않으므로 SNARK 친화적일 필요가 없다 — 그래서 keccak을 쓴다. 회로 안의 keccak은 해시당 15만 constraint급이라 불가능하다.</a:t>
            </a:r>
          </a:p>
          <a:p>
            <a:pPr>
              <a:defRPr sz="1200"/>
            </a:pPr>
            <a:r>
              <a:rPr b="0" sz="1200"/>
              <a:t>총 경로 길이는 보존된다: 세션 8+12, 계정 10+10. 자르는 위치만 바뀔 뿐 용량도 그대로다.</a:t>
            </a:r>
          </a:p>
          <a:p>
            <a:pPr>
              <a:defRPr sz="1200"/>
            </a:pPr>
            <a:r>
              <a:rPr b="0" sz="1200"/>
              <a:t>두 층의 샤딩 기준이 다르다(6~7번). 세션은 만료 기반, 계정은 값 기반이다.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 결과: 증명이 두 조각으로 나뉜다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  <a:gridCol w="3291840"/>
                <a:gridCol w="3017520"/>
              </a:tblGrid>
              <a:tr h="6096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담는 것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언제 죽나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비용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SNARK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target ∉ 내 서브트리</a:t>
                      </a:r>
                    </a:p>
                    <a:p>
                      <a:pPr>
                        <a:defRPr sz="1200"/>
                      </a:pPr>
                      <a:r>
                        <a:rPr sz="1200"/>
                        <a:t>(세션·계정 각 1건)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내 서브트리가 바뀔 때만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510.3 ms (실측)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calldata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sess_root, acct_root,</a:t>
                      </a:r>
                    </a:p>
                    <a:p>
                      <a:pPr>
                        <a:defRPr sz="1200"/>
                      </a:pPr>
                      <a:r>
                        <a:rPr sz="1200"/>
                        <a:t>샤드 인덱스, 상위 형제 22개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top root가 바뀔 때</a:t>
                      </a:r>
                    </a:p>
                    <a:p>
                      <a:pPr>
                        <a:defRPr sz="1200"/>
                      </a:pPr>
                      <a:r>
                        <a:rPr sz="1200"/>
                        <a:t>(= 아무 폐기나)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무료 · 제출 직전 갱신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컨트랙트가 (root_s, 샤드 인덱스, 형제)로 top root를 재계산해 latestTopRoot와 비교한다.</a:t>
            </a:r>
          </a:p>
          <a:p>
            <a:pPr>
              <a:defRPr sz="1200"/>
            </a:pPr>
            <a:r>
              <a:rPr b="1" sz="1200"/>
              <a:t>핵심: 다른 서브트리에서 폐기가 나도 내 root_s는 그대로다 → 비싼 SNARK가 살아남는다.</a:t>
            </a:r>
          </a:p>
          <a:p>
            <a:pPr>
              <a:defRPr sz="1200"/>
            </a:pPr>
            <a:r>
              <a:rPr b="0" sz="1200"/>
              <a:t>바뀌는 것은 상위 형제뿐이고, 그건 루트 목록만 다시 받으면 되는 calldata다.</a:t>
            </a:r>
          </a:p>
          <a:p>
            <a:pPr>
              <a:defRPr sz="1200"/>
            </a:pPr>
            <a:r>
              <a:rPr b="0" sz="1200"/>
              <a:t>실측: 샤드 인덱스 제약은 0 constraint다 — 회로가 이미 만든 targetBits의 선형 결합이라 공짜다.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세션과 계정은 샤딩 기준이 다르다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4023360"/>
                <a:gridCol w="3383280"/>
              </a:tblGrid>
              <a:tr h="67056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층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샤딩 기준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증명자가 자기 샤드를 아는가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회수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세션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(max_height mod 512) x 8</a:t>
                      </a:r>
                    </a:p>
                    <a:p>
                      <a:pPr>
                        <a:defRPr sz="1200"/>
                      </a:pPr>
                      <a:r>
                        <a:rPr sz="1200"/>
                        <a:t>+ L_sess 하위 3비트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안다 — max_height가 이미 public signal이다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공짜: 만료 블록이 지나면</a:t>
                      </a:r>
                    </a:p>
                    <a:p>
                      <a:pPr>
                        <a:defRPr sz="1200"/>
                      </a:pPr>
                      <a:r>
                        <a:rPr sz="1200"/>
                        <a:t>샤드를 통째로 리셋</a:t>
                      </a:r>
                    </a:p>
                  </a:txBody>
                  <a:tcPr anchor="ctr"/>
                </a:tc>
              </a:tr>
              <a:tr h="67056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계정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L_acct 하위 10비트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유도한다 — 회로가 s == f(target)을 강제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재기준화. 단 샤드 단위라</a:t>
                      </a:r>
                    </a:p>
                    <a:p>
                      <a:pPr>
                        <a:defRPr sz="1200"/>
                      </a:pPr>
                      <a:r>
                        <a:rPr sz="1200"/>
                        <a:t>그 샤드 지갑만 영향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세션에서 만료 기반 샤딩이 성립하는 이유: 세션 리프의 만료가 곧 max_height이고, 그건 이미 공개값이다.</a:t>
            </a:r>
          </a:p>
          <a:p>
            <a:pPr>
              <a:defRPr sz="1200"/>
            </a:pPr>
            <a:r>
              <a:rPr b="0" sz="1200"/>
              <a:t>assertMaxHeightWithinBound가 max_height &lt;= 현재 + 300 + 32를 보장하므로 512칸 링이면 충분하다.</a:t>
            </a:r>
          </a:p>
          <a:p>
            <a:pPr>
              <a:defRPr sz="1200"/>
            </a:pPr>
            <a:r>
              <a:rPr b="1" sz="1200"/>
              <a:t>결과가 크다: 세션 층에서 재기준화·epoch·용량 정책이 통째로 사라진다. 만료된 샤드는 빈 트리 상수로 리셋하면 끝이다.</a:t>
            </a:r>
          </a:p>
          <a:p>
            <a:pPr>
              <a:defRPr sz="1200"/>
            </a:pPr>
            <a:r>
              <a:rPr b="0" sz="1200"/>
              <a:t>계정은 안 된다 — 계정 폐기의 만료는 접수 시점 + 332라 증명자가 모른다(모르는 것이 요점이다).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리뷰에서 발견: 세션 층이 병목이었다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빠뜨린 것 두 가지</a:t>
            </a:r>
          </a:p>
          <a:p>
            <a:pPr lvl="1"/>
            <a:r>
              <a:rPr b="1"/>
              <a:t>SNARK는 sess_root와 acct_root를 둘 다 public으로 갖는다 — 둘 중 먼저 바뀌는 쪽이 증명을 죽인다</a:t>
            </a:r>
          </a:p>
          <a:p>
            <a:pPr lvl="1"/>
            <a:r>
              <a:rPr b="0"/>
              <a:t>세션 샤드를 max_height mod 512로만 잡으면 칸은 512개지만 실효는 332개다 (max_height 범위가 332블록이라 그 이상 흩어지지 않는다)</a:t>
            </a:r>
          </a:p>
          <a:p>
            <a:pPr/>
            <a:r>
              <a:rPr b="1"/>
              <a:t>그래서 결합해 다시 계산하면 (폐기 1.4건/블록)</a:t>
            </a:r>
          </a:p>
          <a:p>
            <a:pPr lvl="1"/>
            <a:r>
              <a:rPr b="0"/>
              <a:t>폐기가 전부 세션이면 239블록(48분)마다 변경 → 크레덴셜 1시간당 1.26회 재생성</a:t>
            </a:r>
          </a:p>
          <a:p>
            <a:pPr lvl="1"/>
            <a:r>
              <a:rPr b="1"/>
              <a:t>계정 층만 세면 0.41회지만 그건 세션 층을 빼놓은 값이다 — 초안이 그렇게 낙관적으로 잡혀 있었다</a:t>
            </a:r>
          </a:p>
          <a:p>
            <a:pPr/>
            <a:r>
              <a:rPr b="1"/>
              <a:t>해법: 세션 샤드를 2차원으로</a:t>
            </a:r>
          </a:p>
          <a:p>
            <a:pPr lvl="1"/>
            <a:r>
              <a:rPr b="0"/>
              <a:t>샤드 = (max_height mod 512) x 8 + L_sess 하위 3비트 → 4,096칸(실효 2,656)</a:t>
            </a:r>
          </a:p>
          <a:p>
            <a:pPr lvl="1"/>
            <a:r>
              <a:rPr b="0"/>
              <a:t>상위는 컨트랙트가 max_height % 512로 직접 계산하고, 하위 3비트만 회로가 고정한다 — 회로에 나눗셈이 필요 없다</a:t>
            </a:r>
          </a:p>
          <a:p>
            <a:pPr lvl="1"/>
            <a:r>
              <a:rPr b="1"/>
              <a:t>결과: 재생성 0.16~0.41회. 그리고 세션 깊이가 8로 줄어 회로가 더 싸진다(13,905 실측)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효과: 시간당 12회 → 로그인당 1회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566160"/>
                <a:gridCol w="3840480"/>
              </a:tblGrid>
              <a:tr h="475488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폐기 구성 (총 1.4건/블록)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내 서브트리 변경 주기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크레덴셜 1시간당 SNARK 재생성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전부 세션 폐기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1,911블록  (6.4시간)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0.16회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세션·계정 절반씩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1,063블록  (3.5시간)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0.28회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전부 계정 폐기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737블록  (2.5시간)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0.41회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지금 (배칭 5분, 샤딩 없음)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25블록  (5분)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12회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1" sz="1200"/>
              <a:t>어느 구성이든 변경 주기가 크레덴셜 수명(300블록 = 1시간)보다 길다 → 로그인 1회에 증명 1개가 보통이다.</a:t>
            </a:r>
          </a:p>
          <a:p>
            <a:pPr>
              <a:defRPr sz="1200"/>
            </a:pPr>
            <a:r>
              <a:rPr b="0" sz="1200"/>
              <a:t>증명이 짧게 사는 원인은 SNARK가 무거워서가 아니라, 리프 100만 개를 root 하나로 묶어놨기 때문이다.</a:t>
            </a:r>
          </a:p>
          <a:p>
            <a:pPr>
              <a:defRPr sz="1200"/>
            </a:pPr>
            <a:r>
              <a:rPr b="0" sz="1200"/>
              <a:t>묶음을 나누면 무효화 빈도도 그만큼 나뉜다. 남은 병목은 계정 층(0.41회)이고, 계정 샤드를 4,096으로 올리면 더 내려간다.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 설계의 유일한 민감 변수: 폐기율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554480"/>
                <a:gridCol w="1554480"/>
                <a:gridCol w="4023360"/>
              </a:tblGrid>
              <a:tr h="404948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시나리오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폐기/일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폐기/블록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상주 리프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크레덴셜 1시간당</a:t>
                      </a:r>
                    </a:p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SNARK 재생성 (절반씩 기준)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0.001%/일 (계정 사고만)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1,000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0.14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42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0.03회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0.01%/일  (이 덱의 기준)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1.4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417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0.28회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0.1%/일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10만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13.9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4,167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2.8회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로그인의 1%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100만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139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4.2만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28회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로그인의 10%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1,000만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1,389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42만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282회</a:t>
                      </a:r>
                    </a:p>
                  </a:txBody>
                  <a:tcPr anchor="ctr"/>
                </a:tc>
              </a:tr>
              <a:tr h="404952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로그아웃마다 (100%)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1억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13,889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417만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rPr sz="1100"/>
                        <a:t>2,819회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마지막 줄: 로그아웃마다 폐기하면 상주 리프가 417만 — 멤버십 트리와 정확히 같아지고 비멤버십의 이점이 사라진다.</a:t>
            </a:r>
          </a:p>
          <a:p>
            <a:pPr>
              <a:defRPr sz="1200"/>
            </a:pPr>
            <a:r>
              <a:rPr b="1" sz="1200"/>
              <a:t>정책으로 못박아야 한다 — 로그아웃은 폐기하지 않는다. 1시간 자연 만료로 충분하고, 폐기는 보안 사건에만 쓴다.</a:t>
            </a:r>
          </a:p>
          <a:p>
            <a:pPr>
              <a:defRPr sz="1200"/>
            </a:pPr>
            <a:r>
              <a:rPr b="0" sz="1200"/>
              <a:t>샤드 개수는 거의 공짜 knob이다: 회로 비용은 서브트리 깊이만 따르고 온체인은 log2(샤드) x keccak(레벨당 약 1,100 gas)이다.</a:t>
            </a:r>
          </a:p>
          <a:p>
            <a:pPr>
              <a:defRPr sz="1200"/>
            </a:pPr>
            <a:r>
              <a:rPr b="0" sz="1200"/>
              <a:t>그래서 폐기율이 높으면 샤드를 늘리면 된다 — 0.1%/일 구간도 샤드를 16배로 키우면 크레덴셜 수명을 넘긴다. 회로는 그대로다.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비용 — 회로는 오히려 싸진다 (constraint는 실측)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377440"/>
                <a:gridCol w="4206240"/>
                <a:gridCol w="2194560"/>
              </a:tblGrid>
              <a:tr h="40005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지금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제안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출처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세션 비멤버십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6,648  (깊이 20)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3,732  (깊이 8)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실측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계정 비멤버십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6,648  (깊이 20)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4,218  (깊이 10)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실측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전체 회로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19,251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13,905  (−27.8%)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실측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증명 시간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755.8 ms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510.3 ms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실측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execute 가스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276,709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330,079  (+53,370, +19.3%)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실측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public signal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6개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9개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실측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온체인 상태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bytes32 1개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동일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circom 2.1.9 단독 컴파일. build/는 건드리지 않았다. results/mode2_sharded_circuit_constraints_20260904.csv</a:t>
            </a:r>
          </a:p>
          <a:p>
            <a:pPr>
              <a:defRPr sz="1200"/>
            </a:pPr>
            <a:r>
              <a:rPr b="0" sz="1200"/>
              <a:t>기준선 재현 확인: IMTNonMembershipV2(20) = 6,648, 현행 pi_pk_i = 19,251 — 기록값과 일치.</a:t>
            </a:r>
          </a:p>
          <a:p>
            <a:pPr>
              <a:defRPr sz="1200"/>
            </a:pPr>
            <a:r>
              <a:rPr b="1" sz="1200"/>
              <a:t>레벨당 243, 고정 오버헤드 1,788로 분해된다. 상위 22단을 Poseidon에서 keccak으로 옮긴 만큼이 그대로 이득이다.</a:t>
            </a:r>
          </a:p>
          <a:p>
            <a:pPr>
              <a:defRPr sz="1200"/>
            </a:pPr>
            <a:r>
              <a:rPr b="1" sz="1200"/>
              <a:t>가스가 추정(+12,000)을 4배 넘었다. 상위 경로 keccak과 calldata만 세고, Groth16 verifier가 public signal마다 치르는 비용(6-&gt;9개, ecMul 3회 약 18k)을 빼먹었다.</a:t>
            </a:r>
          </a:p>
          <a:p>
            <a:pPr>
              <a:defRPr sz="1200"/>
            </a:pPr>
            <a:r>
              <a:rPr b="0" sz="1200"/>
              <a:t>증명 시간은 세 회로를 한 실행에서 순차로 돌린 통합 벤치 기준이다(데모 스택 정지). 로그인 1회분 합은 912.7 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함께 얹을 것: 블록 단위 grace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왜 필요한가</a:t>
            </a:r>
          </a:p>
          <a:p>
            <a:pPr lvl="1"/>
            <a:r>
              <a:rPr b="0"/>
              <a:t>top root는 여전히 매 블록 바뀌므로, 제출과 채굴 사이에 바뀌면 revert한다</a:t>
            </a:r>
          </a:p>
          <a:p>
            <a:pPr lvl="1"/>
            <a:r>
              <a:rPr b="0"/>
              <a:t>복구 비용은 가벼워졌지만(형제만 갱신, SNARK 재생성 불필요) 아예 없애는 편이 낫다</a:t>
            </a:r>
          </a:p>
          <a:p>
            <a:pPr/>
            <a:r>
              <a:rPr b="1"/>
              <a:t>방식</a:t>
            </a:r>
          </a:p>
          <a:p>
            <a:pPr lvl="1"/>
            <a:r>
              <a:rPr b="0"/>
              <a:t>레지스트리가 (root, 게시블록)을 저장하고, 최근 K블록 안에 게시된 root를 허용한다</a:t>
            </a:r>
          </a:p>
          <a:p>
            <a:pPr lvl="1"/>
            <a:r>
              <a:rPr b="1"/>
              <a:t>폐기 지연 = K블록로 고정된다 — 폐기 빈도와 무관하다</a:t>
            </a:r>
          </a:p>
          <a:p>
            <a:pPr lvl="1"/>
            <a:r>
              <a:rPr b="0"/>
              <a:t>K = 2~3이면 24~36초. 지금 배칭 지연(수 분)보다 오히려 짧다</a:t>
            </a:r>
          </a:p>
          <a:p>
            <a:pPr/>
            <a:r>
              <a:rPr b="1"/>
              <a:t>설계 주의</a:t>
            </a:r>
          </a:p>
          <a:p>
            <a:pPr lvl="1"/>
            <a:r>
              <a:rPr b="1"/>
              <a:t>grace는 root 개수가 아니라 블록 수로 재야 한다 — 개수로 재면 변경이 드문 샤드에서 옛 root가 오래 남는다</a:t>
            </a:r>
          </a:p>
          <a:p>
            <a:pPr lvl="1"/>
            <a:r>
              <a:rPr b="0"/>
              <a:t>이건 43ca1bc(grace 제거)를 의식적으로 되돌리는 것이다. 당시 근거는 '배칭 덕에 root가 드물게 바뀐다'였고, 그 전제가 바뀐다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지금 누가 트리를 관리하고 누가 게시하나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1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566160"/>
                <a:gridCol w="3749039"/>
              </a:tblGrid>
              <a:tr h="475488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주체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자격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폐기 접수 · 트리 보관 · 상태 영속화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IdP 프로세스 (custom_idp.js)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— (체인 쓰기 없음, eth_blockNumber 읽기만)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폐기 요청 · 계정 차단 · 재기준화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운영자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IDP_ADMIN_SECRET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온체인 pushRoot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운영자 (sweep 데몬)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REVOCATION_IDP_ADDRESS의 이더리움 키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게시 승인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RevocationRegistry.idp (immutable)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onlyIdP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IdP에 개인키를 두지 않으려고 게시를 분리했는데, sweep 데몬이 두 자격을 다 들고 있어 분리가 명목상이다.</a:t>
            </a:r>
          </a:p>
          <a:p>
            <a:pPr>
              <a:defRPr sz="1200"/>
            </a:pPr>
            <a:r>
              <a:rPr b="1" sz="1200"/>
              <a:t>컨트랙트는 게시된 root가 실제 트리와 맞는지 전혀 검증하지 않는다 — 갱신 정당성 증명이 없다.</a:t>
            </a:r>
          </a:p>
          <a:p>
            <a:pPr>
              <a:defRPr sz="1200"/>
            </a:pPr>
            <a:r>
              <a:rPr b="0" sz="1200"/>
              <a:t>그래서 레지스트리 키를 가진 사람은 (a) 옛 root를 다시 올려 전원의 폐기를 되돌리거나 (b) 쓰레기 root로 전원을 막을 수 있다.</a:t>
            </a:r>
          </a:p>
          <a:p>
            <a:pPr>
              <a:defRPr sz="1200"/>
            </a:pPr>
            <a:r>
              <a:rPr b="0" sz="1200"/>
              <a:t>사용자는 자기 세션을 폐기할 수 없다 — /idp/revoke는 관리자 전용이다.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③ 컨트랙트가 트리를 유지하게 하면?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안 되는 두 가지부터</a:t>
            </a:r>
          </a:p>
          <a:p>
            <a:pPr lvl="1"/>
            <a:r>
              <a:rPr b="0"/>
              <a:t>트리 전체 저장: 리프 100만 개 — 스토리지에서 끝난다</a:t>
            </a:r>
          </a:p>
          <a:p>
            <a:pPr lvl="1"/>
            <a:r>
              <a:rPr b="1"/>
              <a:t>삽입마다 root 재계산: Poseidon 약 40회. EVM에 precompile이 없어 실측 기준 폐기 1건당 약 216만 gas다</a:t>
            </a:r>
          </a:p>
          <a:p>
            <a:pPr lvl="1"/>
            <a:r>
              <a:rPr b="0"/>
              <a:t>Poseidon을 keccak으로 못 바꾼다 — 같은 트리를 회로에서도 봐야 하는데 회로 안 keccak은 해시당 15만 constraint급이다</a:t>
            </a:r>
          </a:p>
          <a:p>
            <a:pPr/>
            <a:r>
              <a:rPr b="1"/>
              <a:t>실현 가능한 형태: 갱신 정당성 증명 (zk-rollup 방식)</a:t>
            </a:r>
          </a:p>
          <a:p>
            <a:pPr lvl="1"/>
            <a:r>
              <a:rPr b="0"/>
              <a:t>pushRoot(oldRoot, newRoot, proof) — 컨트랙트가 oldRoot == latestRoot를 강제하고 전이 증명을 검증한다</a:t>
            </a:r>
          </a:p>
          <a:p>
            <a:pPr lvl="1"/>
            <a:r>
              <a:rPr b="0"/>
              <a:t>Groth16 1회 약 25만 gas인데 게시 배치당 한 번이다 — 배치 35건이면 폐기 건당 7,000 gas</a:t>
            </a:r>
          </a:p>
          <a:p>
            <a:pPr/>
            <a:r>
              <a:rPr b="1"/>
              <a:t>무엇이 막히고 무엇은 안 막히나</a:t>
            </a:r>
          </a:p>
          <a:p>
            <a:pPr lvl="1"/>
            <a:r>
              <a:rPr b="1"/>
              <a:t>막힘: 옛 root 재게시(폐기 되돌리기), 쓰레기 root로 전원 차단</a:t>
            </a:r>
          </a:p>
          <a:p>
            <a:pPr lvl="1"/>
            <a:r>
              <a:rPr b="1"/>
              <a:t>안 막힘: 폐기 누락. 체인은 무엇이 폐기돼야 하는지 모른다 — 어떤 온체인 장치도 이건 못 막는다</a:t>
            </a:r>
          </a:p>
          <a:p>
            <a:pPr lvl="1"/>
            <a:r>
              <a:rPr b="0"/>
              <a:t>세션 층은 증명이 아예 필요 없다 — 샤드 인덱스가 곧 만료라 컨트랙트가 block.number만 보고 스스로 리셋한다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함께 해결되는 기존 약점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3949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기존 약점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해결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폐기 지연이 게시 주기만큼 (수 분)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K블록으로 고정 — 24~36초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root 전환 시 인플라이트 revert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grace가 흡수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재기준화가 전 지갑에 O(n) 재다운로드를 물림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샤드 단위 — 해당 샤드 지갑만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세션 폐기도 재기준화로만 회수됨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세션 층은 재기준화 자체가 사라짐 — 만료 샤드를 리셋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지갑 콜드 스타트가 O(n)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리프 n/샤드 + 루트 목록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증명이 매 게시마다 죽음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내 서브트리 변경 시에만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운영자가 옛 root를 올려 폐기를 되돌릴 수 있음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갱신 정당성 증명으로 차단 (13번)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첫 줄이 BAAR 대비 우리가 지는 유일한 지점이었다(세미나 덱 26번). 이 설계가 그걸 없앤다.</a:t>
            </a:r>
          </a:p>
          <a:p>
            <a:pPr>
              <a:defRPr sz="1200"/>
            </a:pPr>
            <a:r>
              <a:rPr b="1" sz="1200"/>
              <a:t>마지막 줄은 BAAR가 Lemma 6에서 주장하지만 증명하지 못하는 지점이다 — 우리는 실제로 채울 수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반드시 지켜야 할 소트니스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계정 층</a:t>
            </a:r>
          </a:p>
          <a:p>
            <a:pPr lvl="1"/>
            <a:r>
              <a:rPr b="0"/>
              <a:t>① 회로가 s == f(L_acct)을 강제해야 한다 — 없으면 증명자가 비어 있는 서브트리를 골라 통과한다</a:t>
            </a:r>
          </a:p>
          <a:p>
            <a:pPr/>
            <a:r>
              <a:rPr b="1"/>
              <a:t>세션 층 — 상위·하위를 서로 다른 주체가 고정한다</a:t>
            </a:r>
          </a:p>
          <a:p>
            <a:pPr lvl="1"/>
            <a:r>
              <a:rPr b="0"/>
              <a:t>② 컨트랙트가 상위를 max_height % 512로 직접 계산해야 한다 (호출자가 준 값을 쓰면 안 된다)</a:t>
            </a:r>
          </a:p>
          <a:p>
            <a:pPr lvl="1"/>
            <a:r>
              <a:rPr b="0"/>
              <a:t>③ 회로가 하위 3비트 == L_sess 하위 3비트를 강제해야 한다</a:t>
            </a:r>
          </a:p>
          <a:p>
            <a:pPr lvl="1"/>
            <a:r>
              <a:rPr b="1"/>
              <a:t>둘 중 하나만 있으면 나머지 축이 자유로워져 빈 샤드를 고를 수 있다</a:t>
            </a:r>
          </a:p>
          <a:p>
            <a:pPr/>
            <a:r>
              <a:rPr b="1"/>
              <a:t>양쪽 공통</a:t>
            </a:r>
          </a:p>
          <a:p>
            <a:pPr lvl="1"/>
            <a:r>
              <a:rPr b="1"/>
              <a:t>④ IdP는 반드시 f(leaf) 샤드에만 삽입해야 한다 — 엉뚱한 샤드에 넣으면 그 폐기는 증명에 보이지 않아 조용히 무효가 된다</a:t>
            </a:r>
          </a:p>
          <a:p>
            <a:pPr lvl="1"/>
            <a:r>
              <a:rPr b="0"/>
              <a:t>지금 구조에 없던 종류의 실패 모드다. 테스트로 고정해야 한다</a:t>
            </a:r>
          </a:p>
          <a:p>
            <a:pPr/>
            <a:r>
              <a:rPr b="1"/>
              <a:t>함께 검증할 것</a:t>
            </a:r>
          </a:p>
          <a:p>
            <a:pPr lvl="1"/>
            <a:r>
              <a:rPr b="0"/>
              <a:t>부하 균형은 샤드별로 봐야 한다 — 전역 용량 정책 1개가 샤드 수만큼으로 늘어난다</a:t>
            </a:r>
          </a:p>
          <a:p>
            <a:pPr lvl="1"/>
            <a:r>
              <a:rPr b="0"/>
              <a:t>재기준화가 샤드 단위가 되면서 epoch도 샤드별이 된다 — 지갑 동기화 프로토콜 변경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검토했다가 버린 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1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65532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안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왜 버렸나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멤버십으로 전환 (BAAR 방식)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트리 크기가 로그인 빈도에 비례 → 100M DAU에서 상주 리프 417만, 초당 2,315 쓰기.</a:t>
                      </a:r>
                    </a:p>
                    <a:p>
                      <a:pPr>
                        <a:defRPr sz="1000"/>
                      </a:pPr>
                      <a:r>
                        <a:rPr sz="1000"/>
                        <a:t>지갑이 코어 27%를 상시 태워야 한다. 그리고 배칭 지연이 폐기가 아니라 매 로그인으로 옮겨간다</a:t>
                      </a:r>
                    </a:p>
                  </a:txBody>
                  <a:tcPr anchor="ctr"/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L_sess를 공개해 세션 비멤버십을</a:t>
                      </a:r>
                    </a:p>
                    <a:p>
                      <a:pPr>
                        <a:defRPr sz="1000"/>
                      </a:pPr>
                      <a:r>
                        <a:rPr sz="1000"/>
                        <a:t>온체인 keccak으로 검증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회로가 크게 싸지지만, IdP가 issuanceLog를 r_token으로 키잉해 갖고 있다.</a:t>
                      </a:r>
                    </a:p>
                    <a:p>
                      <a:pPr>
                        <a:defRPr sz="1000"/>
                      </a:pPr>
                      <a:r>
                        <a:rPr sz="1000"/>
                        <a:t>체인만 보면 uid를 얻는다 → 조건부 추적이 상시 추적이 된다</a:t>
                      </a:r>
                    </a:p>
                  </a:txBody>
                  <a:tcPr anchor="ctr"/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만료 기반 샤딩 — 계정 층에 한해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계정 폐기의 만료는 접수 시점 + 332라 증명자가 모른다 → 전 샤드 증명이 필요하다.</a:t>
                      </a:r>
                    </a:p>
                    <a:p>
                      <a:pPr>
                        <a:defRPr sz="1000"/>
                      </a:pPr>
                      <a:r>
                        <a:rPr sz="1000"/>
                        <a:t>세션 층에서는 만료가 곧 public signal인 max_height라 성립하며, 채택했다(6번)</a:t>
                      </a:r>
                    </a:p>
                  </a:txBody>
                  <a:tcPr anchor="ctr"/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상위 경로도 회로 안에 두기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총 경로 길이가 보존되므로 이득이 0이다. 밖으로 빼야 의미가 생긴다</a:t>
                      </a:r>
                    </a:p>
                  </a:txBody>
                  <a:tcPr anchor="ctr"/>
                </a:tc>
              </a:tr>
              <a:tr h="65532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서브트리 root를 스토리지에 직접 저장</a:t>
                      </a:r>
                    </a:p>
                    <a:p>
                      <a:pPr>
                        <a:defRPr sz="1000"/>
                      </a:pPr>
                      <a:r>
                        <a:rPr sz="1000"/>
                        <a:t>(top 트리 없이)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rPr sz="1000"/>
                        <a:t>사용자 가스는 오히려 싸다(SLOAD 2회 vs keccak 22회). 보류 사유는 확장성이다 —</a:t>
                      </a:r>
                    </a:p>
                    <a:p>
                      <a:pPr>
                        <a:defRPr sz="1000"/>
                      </a:pPr>
                      <a:r>
                        <a:rPr sz="1000"/>
                        <a:t>샤드를 2^16 이상으로 늘리는 경로에서 mapping 슬롯 비용이 붙는다. 재검토 여지 있음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남은 위험과 전제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가스 — 배포 체인 선택에 의존한다</a:t>
            </a:r>
          </a:p>
          <a:p>
            <a:pPr lvl="1"/>
            <a:r>
              <a:rPr b="0"/>
              <a:t>매 블록 게시는 하루 7,200 tx, 약 1억 8,700만 gas</a:t>
            </a:r>
          </a:p>
          <a:p>
            <a:pPr lvl="1"/>
            <a:r>
              <a:rPr b="1"/>
              <a:t>메인넷 20 gwei면 하루 약 3.75 ETH — 비현실적. L2 또는 전용 체인 전제다</a:t>
            </a:r>
          </a:p>
          <a:p>
            <a:pPr/>
            <a:r>
              <a:rPr b="1"/>
              <a:t>무엇이 실측이고 무엇이 아닌가</a:t>
            </a:r>
          </a:p>
          <a:p>
            <a:pPr lvl="1"/>
            <a:r>
              <a:rPr b="0"/>
              <a:t>constraint(3,732 / 4,218 / 13,905)는 circom 단독 컴파일 실측이다 — 기준선 6,648·19,251 재현으로 검증했다</a:t>
            </a:r>
          </a:p>
          <a:p>
            <a:pPr lvl="1"/>
            <a:r>
              <a:rPr b="1"/>
              <a:t>증명 시간(510.3 ms)과 가스(330,079)도 이제 실측이다 — zkey를 만들고 진짜 증명으로 execute를 통과시켰다</a:t>
            </a:r>
          </a:p>
          <a:p>
            <a:pPr lvl="1"/>
            <a:r>
              <a:rPr b="1"/>
              <a:t>추정 항목이 없다. 온체인 Poseidon도 실측했다 — 해시 1회 54,138 gas로 keccak(4,771)의 11.3배</a:t>
            </a:r>
          </a:p>
          <a:p>
            <a:pPr/>
            <a:r>
              <a:rPr b="1"/>
              <a:t>가정에 의존한다</a:t>
            </a:r>
          </a:p>
          <a:p>
            <a:pPr lvl="1"/>
            <a:r>
              <a:rPr b="1"/>
              <a:t>폐기 블록당 1.4건(1만/일, 0.01%)을 전제로 한 결론이다 — 9번의 민감도 표 참조</a:t>
            </a:r>
          </a:p>
          <a:p>
            <a:pPr lvl="1"/>
            <a:r>
              <a:rPr b="0"/>
              <a:t>세션·계정 폐기 비율은 모른다. 8번은 세 경우를 모두 제시했다</a:t>
            </a:r>
          </a:p>
          <a:p>
            <a:pPr/>
            <a:r>
              <a:rPr b="1"/>
              <a:t>구현 규모와 재배포</a:t>
            </a:r>
          </a:p>
          <a:p>
            <a:pPr lvl="1"/>
            <a:r>
              <a:rPr b="0"/>
              <a:t>lib/, IdP의 v2 섹션 전체, 지갑 동기화, 회로, 상태 파일 v5 + 마이그레이션</a:t>
            </a:r>
          </a:p>
          <a:p>
            <a:pPr lvl="1"/>
            <a:r>
              <a:rPr b="0"/>
              <a:t>zkey 재생성 + PPIDWalletFactory 재배포. chain_id를 public signal로 올리는 수정과 묶는 것이 낫다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진행 상황과 남은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완료 (2026-09-04 ~ 09-06)</a:t>
            </a:r>
          </a:p>
          <a:p>
            <a:pPr lvl="1"/>
            <a:r>
              <a:rPr b="0"/>
              <a:t>설계 문서, 회로(pi_pk_i_v3), 라이브러리(imt_v3), 컨트랙트(RegistryV3/WalletV3), IdP·지갑 배선</a:t>
            </a:r>
          </a:p>
          <a:p>
            <a:pPr lvl="1"/>
            <a:r>
              <a:rPr b="0"/>
              <a:t>zkey 생성 → 진짜 증명으로 execute 통과 → 실운영 스택 전환까지 마쳤다</a:t>
            </a:r>
          </a:p>
          <a:p>
            <a:pPr lvl="1"/>
            <a:r>
              <a:rPr b="1"/>
              <a:t>실측 확정: constraint 13,905 · 증명 510.3 ms · 가스 330,079</a:t>
            </a:r>
          </a:p>
          <a:p>
            <a:pPr lvl="1"/>
            <a:r>
              <a:rPr b="0"/>
              <a:t>테스트 unit+circuit 16 / chain 3 / contract 31 / live 16 전부 통과</a:t>
            </a:r>
          </a:p>
          <a:p>
            <a:pPr/>
            <a:r>
              <a:rPr b="1"/>
              <a:t>논문 (final47에 반영 완료)</a:t>
            </a:r>
          </a:p>
          <a:p>
            <a:pPr lvl="1"/>
            <a:r>
              <a:rPr b="0"/>
              <a:t>폐기 절(IV-G)과 Property 9 신설, Table 1에 Revocation 열과 BAAR 행</a:t>
            </a:r>
          </a:p>
          <a:p>
            <a:pPr lvl="1"/>
            <a:r>
              <a:rPr b="1"/>
              <a:t>정정: "새 신뢰 주체 없음"은 거짓이 됐다 — 온체인 게시자가 상시 역할이다</a:t>
            </a:r>
          </a:p>
          <a:p>
            <a:pPr lvl="1"/>
            <a:r>
              <a:rPr b="0"/>
              <a:t>Property 5를 off-chain transcript로 한정 (계정 샤드 인덱스 누출)</a:t>
            </a:r>
          </a:p>
          <a:p>
            <a:pPr/>
            <a:r>
              <a:rPr b="1"/>
              <a:t>남은 것</a:t>
            </a:r>
          </a:p>
          <a:p>
            <a:pPr lvl="1"/>
            <a:r>
              <a:rPr b="0"/>
              <a:t>v2 경로 정리(회로·IdP 트리·옛 컨트랙트)는 안정화 후</a:t>
            </a:r>
          </a:p>
          <a:p>
            <a:pPr lvl="1"/>
            <a:r>
              <a:rPr b="0"/>
              <a:t>갱신 정당성 증명(12번)은 별도 설계 — 롤백은 막지만 폐기 누락은 원리상 못 막는다</a:t>
            </a:r>
          </a:p>
          <a:p>
            <a:pPr lvl="1"/>
            <a:r>
              <a:rPr b="0"/>
              <a:t>온체인 Poseidon도 실측 완료 — keccak의 11.3배라 상위 트리를 밖으로 뺀 판단이 수치로 뒷받침된다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77459</TotalTime>
  <Words>5133</Words>
  <Application>Microsoft Office PowerPoint</Application>
  <PresentationFormat>와이드스크린</PresentationFormat>
  <Paragraphs>968</Paragraphs>
  <Slides>55</Slides>
  <Notes>18</Notes>
  <HiddenSlides>2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3" baseType="lpstr">
      <vt:lpstr>Nunito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An Efficient Delegated User Authentication Protocol for Web3 Services</vt:lpstr>
      <vt:lpstr>Setup</vt:lpstr>
      <vt:lpstr>Verification of Authorization Endpoint </vt:lpstr>
      <vt:lpstr>SSO Protocol</vt:lpstr>
      <vt:lpstr>SSO Protocol for Session i</vt:lpstr>
      <vt:lpstr>Security Concerns (1): Port</vt:lpstr>
      <vt:lpstr>Security Concerns (2): Wallet-Only SSO</vt:lpstr>
      <vt:lpstr>Security Concerns (3): Security of Browser</vt:lpstr>
      <vt:lpstr>Privacy Concerns (1): Identity of RP FE</vt:lpstr>
      <vt:lpstr>Privacy Concerns (2): Unobservability</vt:lpstr>
      <vt:lpstr>Privacy Concerns (3): Unlinkability</vt:lpstr>
      <vt:lpstr>Minor Concerns</vt:lpstr>
      <vt:lpstr>PowerPoint 프레젠테이션</vt:lpstr>
      <vt:lpstr>Security Concerns (4): auid Uniqueness</vt:lpstr>
      <vt:lpstr>Security Concerns (5): Replay Attack</vt:lpstr>
      <vt:lpstr>Privacy Concerns (4): Traceability</vt:lpstr>
      <vt:lpstr>〖RP〗_Auth vs. ZKP</vt:lpstr>
      <vt:lpstr>현재 트랜잭션 실행 방식</vt:lpstr>
      <vt:lpstr>PPIDWallet.sol의 실행 함수</vt:lpstr>
      <vt:lpstr>RP-IdP 협조를 강제할 수 있는 방안 필요성 여부</vt:lpstr>
      <vt:lpstr>How Proposed Approach Satisfies Properties</vt:lpstr>
      <vt:lpstr>Salt Uniqueness</vt:lpstr>
      <vt:lpstr>RP Verification in IdP</vt:lpstr>
      <vt:lpstr>User Verification in RP</vt:lpstr>
      <vt:lpstr>ZKPs in Our Protocol</vt:lpstr>
      <vt:lpstr>ZKPs in Our Protocol</vt:lpstr>
      <vt:lpstr>ZKPs in Our Protocol</vt:lpstr>
      <vt:lpstr>Transaction</vt:lpstr>
      <vt:lpstr>ZKP Generation Overhead</vt:lpstr>
      <vt:lpstr>Proof for session public key verification  Compared to zkLogin</vt:lpstr>
      <vt:lpstr>PowerPoint 프레젠테이션</vt:lpstr>
      <vt:lpstr>Account Abstraction Wallet)  Web3 Authentication Process (Abstract)</vt:lpstr>
      <vt:lpstr>Existing Solutions</vt:lpstr>
      <vt:lpstr>PPID Generation on Existing Solutions</vt:lpstr>
      <vt:lpstr>VeriSSO Overview</vt:lpstr>
      <vt:lpstr>EL PASSO Overview</vt:lpstr>
      <vt:lpstr>Naïve Delegated Authentication in Web3 (RP ver.)</vt:lpstr>
      <vt:lpstr>Existing Solutions</vt:lpstr>
      <vt:lpstr>Privacy Support</vt:lpstr>
      <vt:lpstr>Implementation Details</vt:lpstr>
      <vt:lpstr>Design</vt:lpstr>
      <vt:lpstr>Terminologies</vt:lpstr>
      <vt:lpstr>Proposed Web3 Authentication Process </vt:lpstr>
      <vt:lpstr>PPID Generation</vt:lpstr>
      <vt:lpstr>Confirm Delegated Login Information</vt:lpstr>
      <vt:lpstr>Authentication Token Issuance</vt:lpstr>
      <vt:lpstr>PPID verification</vt:lpstr>
      <vt:lpstr>Additional Privacy Requirements</vt:lpstr>
      <vt:lpstr> Case of Offline Dictionary Attack</vt:lpstr>
      <vt:lpstr> Case of Offline Dictionary Attack</vt:lpstr>
      <vt:lpstr>Main Goal</vt:lpstr>
      <vt:lpstr>Step-by-Step Operations</vt:lpstr>
      <vt:lpstr>Comparisons</vt:lpstr>
      <vt:lpstr>Prototype and Evaluation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폐기 트리 샤딩 설계 검토</dc:title>
  <dc:creator>Moonhyeon Chung</dc:creator>
  <cp:lastModifiedBy>정문현</cp:lastModifiedBy>
  <cp:revision>4522</cp:revision>
  <cp:lastPrinted>2025-12-17T02:23:57Z</cp:lastPrinted>
  <dcterms:created xsi:type="dcterms:W3CDTF">2017-10-09T11:48:53Z</dcterms:created>
  <dcterms:modified xsi:type="dcterms:W3CDTF">2026-07-31T04:53:12Z</dcterms:modified>
  <dc:subject>PairCT Mode 2 revocation tree sharding design</dc:subject>
  <dc:description>빌더: scripts/build_revocation_sharding_slides_260904.py</dc:description>
</cp:coreProperties>
</file>